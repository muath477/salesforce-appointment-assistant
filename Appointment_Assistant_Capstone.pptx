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62" r:id="rId8"/>
    <p:sldId id="270" r:id="rId21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7.xml"/><Relationship Id="rId21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Appointments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E2E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0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6C6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Scheduled</c:v>
                  </c:pt>
                  <c:pt idx="1">
                    <c:v>Rescheduled</c:v>
                  </c:pt>
                  <c:pt idx="2">
                    <c:v>Cancelled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E2E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0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554480"/>
            <a:ext cx="4754880" cy="475488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66960" y="3566160"/>
            <a:ext cx="3108960" cy="310896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417320"/>
            <a:ext cx="914400" cy="9144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CAPSTONE PROJECT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97180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Appointment</a:t>
            </a:r>
            <a:endParaRPr lang="en-US" sz="4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Assistant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548640" y="480060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Streamlining appointment scheduling, rescheduling &amp; cancellation with Salesforce automation and an AI-ready design.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2A55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5943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Muath Al-Mutairi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60720" y="59436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 Management  ·  Salesforce Platform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63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appointment handling is slow, error-prone, and costly.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2468880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rescheduling and cancellation consume significant agent time.</a:t>
            </a:r>
            <a:endParaRPr lang="en-US" sz="15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 are error-prone and raise operational costs.</a:t>
            </a:r>
            <a:endParaRPr lang="en-US" sz="15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face delays and friction with traditional booking.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need an automated, intelligent appointment system.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5321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improve the customer experience while optimizing operational efficiency.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20840" y="1554480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995160" y="1920240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07568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863840" y="1810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863840" y="221284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lost to manual back-and-forth scheduling.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20840" y="3127248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995160" y="3493008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08" y="3648456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6384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7863840" y="378561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Double-bookings and mistakes from manual entry.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720840" y="4700016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6995160" y="5065776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52212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863840" y="495604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7863840" y="535838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responses hurt customer satisfaction.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04672" y="1911096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04672" y="19110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737360" y="1819656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data model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737360" y="2221992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scalable Salesforce data model for appointments.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611112" y="1911096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611112" y="19110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543800" y="1819656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workflows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543800" y="2221992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create / reschedule / cancel with Flow Builder.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3136392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04672" y="34472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4672" y="34472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737360" y="3355848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interface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737360" y="3758184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user-friendly Screen Flow for booking.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3136392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611112" y="34472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611112" y="34472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7543800" y="3355848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application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7543800" y="3758184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Lightning App and custom LWC for administrators.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48640" y="4672584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804672" y="4983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4672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1737360" y="4892040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insight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37360" y="5294376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reports and dashboards for visibility.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355080" y="4672584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6611112" y="4983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611112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7543800" y="4892040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AI-ready design</a:t>
            </a:r>
            <a:endParaRPr lang="en-US" sz="1650" dirty="0"/>
          </a:p>
        </p:txBody>
      </p:sp>
      <p:sp>
        <p:nvSpPr>
          <p:cNvPr id="36" name="Text 33"/>
          <p:cNvSpPr/>
          <p:nvPr/>
        </p:nvSpPr>
        <p:spPr>
          <a:xfrm>
            <a:off x="7543800" y="5294376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agent-ready automation for Agentforce.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Overview &amp; Architecture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layered solution: a user — or a future AI agent — triggers reusable Flows that manage appointment records and feed live reporting.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426464" y="2578608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9806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AI Agent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86384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via Screen Flow or Agentforce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145536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3511296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4297680" y="2578608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2798064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21024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Flows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657600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· Reschedule · Cancel logic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16752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382512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7168896" y="2578608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2798064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92240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Records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528816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object stores all data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887968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253728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10040112" y="2578608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9568" y="2798064"/>
            <a:ext cx="475488" cy="47548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363456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Dashboard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9400032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insight by status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32" name="Text 25"/>
          <p:cNvSpPr/>
          <p:nvPr/>
        </p:nvSpPr>
        <p:spPr>
          <a:xfrm>
            <a:off x="777240" y="489204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by design:  </a:t>
            </a:r>
            <a:pPr algn="l" indent="0" marL="0">
              <a:buNone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Flows are callable from the booking UI today and from an Agentforce agent once licensing is enabled — no rework required.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Object:  </a:t>
            </a:r>
            <a:pPr algn="l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</a:t>
            </a:r>
            <a:pPr algn="l" indent="0" marL="0">
              <a:buNone/>
            </a:pPr>
            <a:r>
              <a:rPr lang="en-US" sz="15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Record Name = Auto Number  </a:t>
            </a:r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APT-{00000}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11091672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" y="2455164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234440" y="219456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Number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303520" y="2194560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Number — APT-{00000} (Record Name)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94360" y="2852928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" y="3113532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34440" y="28529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(Customer)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303520" y="2852928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 →  Contact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68680" y="3771900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234440" y="3511296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Date/Time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303520" y="3511296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94360" y="4169664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868680" y="4430268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34440" y="416966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03520" y="4169664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Picklist — Scheduled · Rescheduled · Completed · Cancelled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868680" y="5088636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234440" y="48280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Type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303520" y="4828032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Picklist — Consultation · Follow-up · Support · Other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486400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868680" y="5747004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234440" y="548640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303520" y="5486400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Text Area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— Three Autolaunched Flows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810512" y="1938528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21671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Appointment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Contact Id,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Date/Time, Service Type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record and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Appointment Id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325112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586984" y="1938528"/>
            <a:ext cx="1005840" cy="10058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584" y="2167128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462272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Appointment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4599432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Appointment Id,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Date/Time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date and sets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Rescheduled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101584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8101584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363456" y="1938528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671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38744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375904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Appointment Id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record and sets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Cancelled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Flows are Active and reusable  —  </a:t>
            </a:r>
            <a:pPr algn="l" indent="0" marL="0">
              <a:buNone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from the booking UI today and from a future AI agent.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Invocable Apex Action — the Agent Bridge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@InvocableMethod appears in both the Flow palette and the Agentforce action library — so the agent and the user interface share one implementation, with no wrapper in between.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— validates the inputs, then inserts it as Scheduled.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— moves it and sets Status = Rescheduled.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— sets Status = Cancelled; the record is kept.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— reads the customer’s real appointments back.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Hand an Agent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and DML runs in USER_MODE — the platform enforces the user’s access.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throws: every failure returns a plain-language message, so a conversation stays recoverable.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Bulkified by construction, and covered by 14 Apex tests.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Flow — Booking Interface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AEC0C2">
                <a:alpha val="55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600200"/>
            <a:ext cx="5212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1600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 Screen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251460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Date/Time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14400" y="283464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097280" y="2834640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19/08/2026  10:30 AM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361188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Type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14400" y="393192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097280" y="3931920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3931920"/>
            <a:ext cx="365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" y="4846320"/>
            <a:ext cx="4480560" cy="658368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4846320"/>
            <a:ext cx="4480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172200" y="1737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user-facing front-end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172200" y="237744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Appointment Screen" is an Active Screen Flow.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Date/Time and Service Type from the user.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appointment record on submission.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as a real, user-facing booking interface.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as a functional alternative to the conversational AI agent.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Lightning Web Component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“Upcoming Appointments” — a custom LWC on the app Home page, backed by a security-enforced Apex controller.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next upcoming, non-cancelled appointments, soonest first.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appointment number, customer, date/time, service and status.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empty state and a friendly error state — never a blank card.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@wire to a cacheable Apex method — cached on the client, refreshed automatically.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SOQL runs WITH USER_MODE, so the query respects the running user’s access.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 is a design attribute — configurable in App Builder, no code change.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App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91640"/>
            <a:ext cx="63093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AEC0C2">
                <a:alpha val="55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691640"/>
            <a:ext cx="6309360" cy="868680"/>
          </a:xfrm>
          <a:prstGeom prst="roundRect">
            <a:avLst>
              <a:gd name="adj" fmla="val 12632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" y="192938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01168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5212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Management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68680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68680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313432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313432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758184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758184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202936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5202936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566160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051560" y="3566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APT-00001   ·   Scheduled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68680" y="413308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051560" y="413308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APT-00002   ·   Scheduled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68680" y="4700016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1051560" y="470001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APT-00003   ·   Scheduled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086600" y="18288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"Appointment Management" Lightning App.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Tabs: Appointments, Contacts, Reports, Dashboards.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Tab created for the Appointment object.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 the System Administrator profile.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workspace for agents and admins.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Dashboard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by Status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2194560"/>
          <a:ext cx="56692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995160" y="192024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 Type:  "Appointments Report".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Report:  "Appointments by Status" — grouped, with a chart.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 "Appointments Dashboard" visualizing the data.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Scheduled vs. Rescheduled vs. Cancelled at a glance.</a:t>
            </a:r>
            <a:endParaRPr lang="en-US" sz="1450" dirty="0"/>
          </a:p>
          <a:p>
            <a:pPr algn="l" marL="203200" indent="-203200"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data-driven operational decisions.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6995160" y="5257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reflects status transitions validated across the three test records.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Agentforce — Honest Status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Agentforce was part of the architecture from day one. Activation was constrained by the org edition — here is exactly what happened and how it was handled.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Edition org lacked the required tenant configuration and licensing.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"Agentforce Agents" returned "No matching items found" in Setup.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conversational agent could not be activated in this environment.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Mitigation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built as agent-ready actions: create, reschedule, cancel.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working Screen Flow AND an active Einstein Bot, both calling the same Flows.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documented and ready once licensing is enabled.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Results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8640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731520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appointments booked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25112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325112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507992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validated end-to-end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01584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01584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8284464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 Active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created &amp; verified: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6576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6576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578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2578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8580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APT-00003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4206240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Flows, Screen Flow, App and Reports all built and Active.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Reschedule / Cancel logic validated on real records.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transitions confirmed:  Scheduled → Rescheduled / Cancelled.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Dashboard reflect real appointment data accurately.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Lessons Learned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04672" y="17647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600200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Edition licensing blocked Agentforce activation.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48640" y="253288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04672" y="2697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6974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2532888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decoupled, reusable automation lets one Flow serve both UI and AI.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548640" y="346557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04672" y="36301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630168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465576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working alternatives — Screen Flow and an active Einstein Bot — kept the project functional and on schedule.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804672" y="456285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4562856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08760" y="4398264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hands-on skills in data modeling, Flows, and Lightning App Builder.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548640" y="533095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804672" y="549554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5495544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508760" y="5330952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the value of honest scoping and mitigation planning.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64008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859536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functional appointment management solution on Salesforce.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scheduling workflows automated end-to-end.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 and reporting provide full operational visibility.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delivered today via an active Einstein Bot; native Agentforce is architected and ready to activate once licensed.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720840" y="1783080"/>
            <a:ext cx="4919472" cy="3840480"/>
          </a:xfrm>
          <a:prstGeom prst="roundRect">
            <a:avLst>
              <a:gd name="adj" fmla="val 3333"/>
            </a:avLst>
          </a:prstGeom>
          <a:solidFill>
            <a:srgbClr val="12474F"/>
          </a:solidFill>
          <a:ln w="15875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08660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086600" y="27432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0866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an appointment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086600" y="34015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0866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80960" y="340156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it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086600" y="405993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086600" y="4059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80960" y="405993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it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086600" y="471830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086600" y="47183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471830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the dashboard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5943600"/>
            <a:ext cx="11091672" cy="0"/>
          </a:xfrm>
          <a:prstGeom prst="line">
            <a:avLst/>
          </a:prstGeom>
          <a:noFill/>
          <a:ln w="12700">
            <a:solidFill>
              <a:srgbClr val="2A555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48640" y="6053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Muath Al-Mutairi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126480" y="6053328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2026-08-18T22:11:25Z</dcterms:created>
  <dcterms:modified xsi:type="dcterms:W3CDTF">2026-08-18T22:11:25Z</dcterms:modified>
</cp:coreProperties>
</file>