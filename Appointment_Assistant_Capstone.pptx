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9" r:id="rId20"/>
    <p:sldId id="262" r:id="rId8"/>
    <p:sldId id="270" r:id="rId21"/>
    <p:sldId id="263" r:id="rId9"/>
    <p:sldId id="264" r:id="rId10"/>
    <p:sldId id="265" r:id="rId11"/>
    <p:sldId id="266" r:id="rId12"/>
    <p:sldId id="267" r:id="rId13"/>
    <p:sldId id="268" r:id="rId14"/>
  </p:sldIdLst>
  <p:notesMasterIdLst>
    <p:notesMasterId r:id="rId1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8.xml"/><Relationship Id="rId9" Type="http://schemas.openxmlformats.org/officeDocument/2006/relationships/slide" Target="slides/slide10.xml"/><Relationship Id="rId10" Type="http://schemas.openxmlformats.org/officeDocument/2006/relationships/slide" Target="slides/slide11.xml"/><Relationship Id="rId11" Type="http://schemas.openxmlformats.org/officeDocument/2006/relationships/slide" Target="slides/slide12.xml"/><Relationship Id="rId12" Type="http://schemas.openxmlformats.org/officeDocument/2006/relationships/slide" Target="slides/slide13.xml"/><Relationship Id="rId13" Type="http://schemas.openxmlformats.org/officeDocument/2006/relationships/slide" Target="slides/slide14.xml"/><Relationship Id="rId14" Type="http://schemas.openxmlformats.org/officeDocument/2006/relationships/slide" Target="slides/slide15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Relationship Id="rId20" Type="http://schemas.openxmlformats.org/officeDocument/2006/relationships/slide" Target="slides/slide7.xml"/><Relationship Id="rId21" Type="http://schemas.openxmlformats.org/officeDocument/2006/relationships/slide" Target="slides/slide9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Appointments</c:v>
                </c:pt>
              </c:strCache>
            </c:strRef>
          </c:tx>
          <c:spPr>
            <a:solidFill>
              <a:srgbClr val="028090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300" u="none">
                    <a:solidFill>
                      <a:srgbClr val="0E2E34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028090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E0A02F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D96C6C"/>
              </a:solidFill>
              <a:effectLst/>
            </c:spPr>
          </c:dPt>
          <c:cat>
            <c:multiLvlStrRef>
              <c:f>Sheet1!$A$2:$A$4</c:f>
              <c:multiLvlStrCache>
                <c:ptCount val="3"/>
                <c:lvl>
                  <c:pt idx="0">
                    <c:v>Scheduled</c:v>
                  </c:pt>
                  <c:pt idx="1">
                    <c:v>Rescheduled</c:v>
                  </c:pt>
                  <c:pt idx="2">
                    <c:v>Cancelled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1</c:v>
                </c:pt>
                <c:pt idx="1">
                  <c:v>1</c:v>
                </c:pt>
                <c:pt idx="2">
                  <c:v>1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1" i="0" strike="noStrike" sz="1300" u="none">
                  <a:solidFill>
                    <a:srgbClr val="0E2E34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6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5B7079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2"/>
          <c:min val="0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BASE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slideLayout" Target="../slideLayouts/slideLayout2.xml"/><Relationship Id="rId6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image" Target="../media/image-4-5.png"/><Relationship Id="rId6" Type="http://schemas.openxmlformats.org/officeDocument/2006/relationships/slideLayout" Target="../slideLayouts/slideLayout2.xml"/><Relationship Id="rId7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image" Target="../media/image-6-3.png"/><Relationship Id="rId4" Type="http://schemas.openxmlformats.org/officeDocument/2006/relationships/image" Target="../media/image-6-4.png"/><Relationship Id="rId5" Type="http://schemas.openxmlformats.org/officeDocument/2006/relationships/slideLayout" Target="../slideLayouts/slideLayout2.xml"/><Relationship Id="rId6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-10-1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-10-1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8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chart" Target="../charts/chart1.xml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9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0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1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image" Target="../media/image-12-3.png"/><Relationship Id="rId4" Type="http://schemas.openxmlformats.org/officeDocument/2006/relationships/image" Target="../media/image-12-4.png"/><Relationship Id="rId5" Type="http://schemas.openxmlformats.org/officeDocument/2006/relationships/image" Target="../media/image-12-5.png"/><Relationship Id="rId6" Type="http://schemas.openxmlformats.org/officeDocument/2006/relationships/image" Target="../media/image-12-6.png"/><Relationship Id="rId7" Type="http://schemas.openxmlformats.org/officeDocument/2006/relationships/slideLayout" Target="../slideLayouts/slideLayout2.xml"/><Relationship Id="rId8" Type="http://schemas.openxmlformats.org/officeDocument/2006/relationships/notesSlide" Target="../notesSlides/notesSlide12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E2E3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961120" y="-1554480"/>
            <a:ext cx="4754880" cy="4754880"/>
          </a:xfrm>
          <a:prstGeom prst="ellipse">
            <a:avLst/>
          </a:prstGeom>
          <a:solidFill>
            <a:srgbClr val="12474F"/>
          </a:solidFill>
          <a:ln/>
        </p:spPr>
        <p:txBody>
          <a:bodyPr/>
          <a:p/>
        </p:txBody>
      </p:sp>
      <p:sp>
        <p:nvSpPr>
          <p:cNvPr id="3" name="Shape 1"/>
          <p:cNvSpPr/>
          <p:nvPr/>
        </p:nvSpPr>
        <p:spPr>
          <a:xfrm>
            <a:off x="9966960" y="3566160"/>
            <a:ext cx="3108960" cy="3108960"/>
          </a:xfrm>
          <a:prstGeom prst="ellipse">
            <a:avLst/>
          </a:prstGeom>
          <a:solidFill>
            <a:srgbClr val="12474F"/>
          </a:solidFill>
          <a:ln/>
        </p:spPr>
        <p:txBody>
          <a:bodyPr/>
          <a:p/>
        </p:txBody>
      </p:sp>
      <p:sp>
        <p:nvSpPr>
          <p:cNvPr id="4" name="Shape 2"/>
          <p:cNvSpPr/>
          <p:nvPr/>
        </p:nvSpPr>
        <p:spPr>
          <a:xfrm>
            <a:off x="548640" y="1417320"/>
            <a:ext cx="914400" cy="914400"/>
          </a:xfrm>
          <a:prstGeom prst="roundRect">
            <a:avLst>
              <a:gd name="adj" fmla="val 16000"/>
            </a:avLst>
          </a:prstGeom>
          <a:solidFill>
            <a:srgbClr val="028090"/>
          </a:solidFill>
          <a:ln/>
        </p:spPr>
        <p:txBody>
          <a:bodyPr/>
          <a:p/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6384" y="1655064"/>
            <a:ext cx="438912" cy="438912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548640" y="260604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b="1" spc="300" kern="0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SALESFORCE CAPSTONE PROJECT</a:t>
            </a:r>
            <a:endParaRPr lang="en-US" sz="1400" dirty="0"/>
          </a:p>
        </p:txBody>
      </p:sp>
      <p:sp>
        <p:nvSpPr>
          <p:cNvPr id="7" name="Text 4"/>
          <p:cNvSpPr/>
          <p:nvPr/>
        </p:nvSpPr>
        <p:spPr>
          <a:xfrm>
            <a:off x="548640" y="2971800"/>
            <a:ext cx="10424160" cy="1737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4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AI-Powered Appointment</a:t>
            </a:r>
            <a:endParaRPr lang="en-US" sz="46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4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Management Assistant</a:t>
            </a:r>
            <a:endParaRPr lang="en-US" sz="4600" dirty="0"/>
          </a:p>
        </p:txBody>
      </p:sp>
      <p:sp>
        <p:nvSpPr>
          <p:cNvPr id="8" name="Text 5"/>
          <p:cNvSpPr/>
          <p:nvPr/>
        </p:nvSpPr>
        <p:spPr>
          <a:xfrm>
            <a:off x="548640" y="4800600"/>
            <a:ext cx="93268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rgbClr val="C9DB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Streamlining appointment scheduling, rescheduling &amp; cancellation with Salesforce automation and an AI-ready design.</a:t>
            </a:r>
            <a:endParaRPr lang="en-US" sz="1600" dirty="0"/>
          </a:p>
        </p:txBody>
      </p:sp>
      <p:sp>
        <p:nvSpPr>
          <p:cNvPr id="9" name="Shape 6"/>
          <p:cNvSpPr/>
          <p:nvPr/>
        </p:nvSpPr>
        <p:spPr>
          <a:xfrm>
            <a:off x="548640" y="5806440"/>
            <a:ext cx="11064240" cy="0"/>
          </a:xfrm>
          <a:prstGeom prst="line">
            <a:avLst/>
          </a:prstGeom>
          <a:noFill/>
          <a:ln w="12700">
            <a:solidFill>
              <a:srgbClr val="2A555C"/>
            </a:solidFill>
            <a:prstDash val="solid"/>
          </a:ln>
        </p:spPr>
        <p:txBody>
          <a:bodyPr/>
          <a:p/>
        </p:txBody>
      </p:sp>
      <p:sp>
        <p:nvSpPr>
          <p:cNvPr id="10" name="Text 7"/>
          <p:cNvSpPr/>
          <p:nvPr/>
        </p:nvSpPr>
        <p:spPr>
          <a:xfrm>
            <a:off x="548640" y="5943600"/>
            <a:ext cx="6400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9FB9B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Presented by  </a:t>
            </a:r>
            <a:pPr algn="l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Muath Al-Mutairi</a:t>
            </a:r>
            <a:endParaRPr lang="en-US" sz="1400" dirty="0"/>
          </a:p>
        </p:txBody>
      </p:sp>
      <p:sp>
        <p:nvSpPr>
          <p:cNvPr id="11" name="Text 8"/>
          <p:cNvSpPr/>
          <p:nvPr/>
        </p:nvSpPr>
        <p:spPr>
          <a:xfrm>
            <a:off x="5760720" y="5943600"/>
            <a:ext cx="5852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9FB9B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Customer Relationship Management  ·  Salesforce Platform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75488"/>
            <a:ext cx="585216" cy="585216"/>
          </a:xfrm>
          <a:prstGeom prst="ellipse">
            <a:avLst/>
          </a:prstGeom>
          <a:solidFill>
            <a:srgbClr val="028090"/>
          </a:solidFill>
          <a:ln/>
        </p:spPr>
        <p:txBody>
          <a:bodyPr/>
          <a:p/>
        </p:txBody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94944" y="621792"/>
            <a:ext cx="292608" cy="292608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335024" y="457200"/>
            <a:ext cx="1003096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E2E3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Problem Statement</a:t>
            </a:r>
            <a:endParaRPr lang="en-US" sz="3000" dirty="0"/>
          </a:p>
        </p:txBody>
      </p:sp>
      <p:sp>
        <p:nvSpPr>
          <p:cNvPr id="5" name="Text 2"/>
          <p:cNvSpPr/>
          <p:nvPr/>
        </p:nvSpPr>
        <p:spPr>
          <a:xfrm>
            <a:off x="11183112" y="502920"/>
            <a:ext cx="4572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5B70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300" dirty="0"/>
          </a:p>
        </p:txBody>
      </p:sp>
      <p:sp>
        <p:nvSpPr>
          <p:cNvPr id="6" name="Shape 3"/>
          <p:cNvSpPr/>
          <p:nvPr/>
        </p:nvSpPr>
        <p:spPr>
          <a:xfrm>
            <a:off x="548640" y="1261872"/>
            <a:ext cx="1005840" cy="0"/>
          </a:xfrm>
          <a:prstGeom prst="line">
            <a:avLst/>
          </a:prstGeom>
          <a:noFill/>
          <a:ln w="31750">
            <a:solidFill>
              <a:srgbClr val="02C39A"/>
            </a:solidFill>
            <a:prstDash val="solid"/>
          </a:ln>
        </p:spPr>
        <p:txBody>
          <a:bodyPr/>
          <a:p/>
        </p:txBody>
      </p:sp>
      <p:sp>
        <p:nvSpPr>
          <p:cNvPr id="7" name="Text 4"/>
          <p:cNvSpPr/>
          <p:nvPr/>
        </p:nvSpPr>
        <p:spPr>
          <a:xfrm>
            <a:off x="548640" y="1463040"/>
            <a:ext cx="58521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02809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Manual appointment handling is slow, error-prone, and costly.</a:t>
            </a:r>
            <a:endParaRPr lang="en-US" sz="2000" dirty="0"/>
          </a:p>
        </p:txBody>
      </p:sp>
      <p:sp>
        <p:nvSpPr>
          <p:cNvPr id="8" name="Text 5"/>
          <p:cNvSpPr/>
          <p:nvPr/>
        </p:nvSpPr>
        <p:spPr>
          <a:xfrm>
            <a:off x="548640" y="2468880"/>
            <a:ext cx="5852160" cy="3108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marL="203200" indent="-203200">
              <a:spcAft>
                <a:spcPts val="1200"/>
              </a:spcAft>
              <a:buSzPct val="100000"/>
              <a:buChar char="•"/>
            </a:pPr>
            <a:r>
              <a:rPr lang="en-US" sz="1500" dirty="0">
                <a:solidFill>
                  <a:srgbClr val="0E2E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Scheduling, rescheduling and cancellation consume significant agent time.</a:t>
            </a:r>
            <a:endParaRPr lang="en-US" sz="1500" dirty="0"/>
          </a:p>
          <a:p>
            <a:pPr algn="l" marL="203200" indent="-203200">
              <a:spcAft>
                <a:spcPts val="1200"/>
              </a:spcAft>
              <a:buSzPct val="100000"/>
              <a:buChar char="•"/>
            </a:pPr>
            <a:r>
              <a:rPr lang="en-US" sz="1500" dirty="0">
                <a:solidFill>
                  <a:srgbClr val="0E2E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Manual processes are error-prone and raise operational costs.</a:t>
            </a:r>
            <a:endParaRPr lang="en-US" sz="1500" dirty="0"/>
          </a:p>
          <a:p>
            <a:pPr algn="l" marL="203200" indent="-203200">
              <a:spcAft>
                <a:spcPts val="1200"/>
              </a:spcAft>
              <a:buSzPct val="100000"/>
              <a:buChar char="•"/>
            </a:pPr>
            <a:r>
              <a:rPr lang="en-US" sz="1500" dirty="0">
                <a:solidFill>
                  <a:srgbClr val="0E2E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Customers face delays and friction with traditional booking.</a:t>
            </a:r>
            <a:endParaRPr lang="en-US" sz="1500" dirty="0"/>
          </a:p>
          <a:p>
            <a:pPr algn="l" marL="203200" indent="-203200">
              <a:buSzPct val="100000"/>
              <a:buChar char="•"/>
            </a:pPr>
            <a:r>
              <a:rPr lang="en-US" sz="1500" dirty="0">
                <a:solidFill>
                  <a:srgbClr val="0E2E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Organizations need an automated, intelligent appointment system.</a:t>
            </a:r>
            <a:endParaRPr lang="en-US" sz="1500" dirty="0"/>
          </a:p>
        </p:txBody>
      </p:sp>
      <p:sp>
        <p:nvSpPr>
          <p:cNvPr id="9" name="Shape 6"/>
          <p:cNvSpPr/>
          <p:nvPr/>
        </p:nvSpPr>
        <p:spPr>
          <a:xfrm>
            <a:off x="548640" y="5532120"/>
            <a:ext cx="5852160" cy="822960"/>
          </a:xfrm>
          <a:prstGeom prst="roundRect">
            <a:avLst>
              <a:gd name="adj" fmla="val 11111"/>
            </a:avLst>
          </a:prstGeom>
          <a:solidFill>
            <a:srgbClr val="F1F6F7"/>
          </a:solidFill>
          <a:ln w="12700">
            <a:solidFill>
              <a:srgbClr val="D5E2E4"/>
            </a:solidFill>
            <a:prstDash val="solid"/>
          </a:ln>
        </p:spPr>
        <p:txBody>
          <a:bodyPr/>
          <a:p/>
        </p:txBody>
      </p:sp>
      <p:sp>
        <p:nvSpPr>
          <p:cNvPr id="10" name="Text 7"/>
          <p:cNvSpPr/>
          <p:nvPr/>
        </p:nvSpPr>
        <p:spPr>
          <a:xfrm>
            <a:off x="777240" y="5532120"/>
            <a:ext cx="53949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b="1" i="1" dirty="0">
                <a:solidFill>
                  <a:srgbClr val="0E2E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Goal:  improve the customer experience while optimizing operational efficiency.</a:t>
            </a:r>
            <a:endParaRPr lang="en-US" sz="1400" dirty="0"/>
          </a:p>
        </p:txBody>
      </p:sp>
      <p:sp>
        <p:nvSpPr>
          <p:cNvPr id="11" name="Shape 8"/>
          <p:cNvSpPr/>
          <p:nvPr/>
        </p:nvSpPr>
        <p:spPr>
          <a:xfrm>
            <a:off x="6720840" y="1554480"/>
            <a:ext cx="4919472" cy="137160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12700">
            <a:solidFill>
              <a:srgbClr val="D5E2E4"/>
            </a:solidFill>
            <a:prstDash val="solid"/>
          </a:ln>
          <a:effectLst>
            <a:outerShdw sx="100000" sy="100000" kx="0" ky="0" algn="bl" rotWithShape="0" blurRad="76200" dist="25400" dir="5400000">
              <a:srgbClr val="BCCBCD">
                <a:alpha val="50000"/>
              </a:srgbClr>
            </a:outerShdw>
          </a:effectLst>
        </p:spPr>
        <p:txBody>
          <a:bodyPr/>
          <a:p/>
        </p:txBody>
      </p:sp>
      <p:sp>
        <p:nvSpPr>
          <p:cNvPr id="12" name="Shape 9"/>
          <p:cNvSpPr/>
          <p:nvPr/>
        </p:nvSpPr>
        <p:spPr>
          <a:xfrm>
            <a:off x="6995160" y="1920240"/>
            <a:ext cx="640080" cy="640080"/>
          </a:xfrm>
          <a:prstGeom prst="ellipse">
            <a:avLst/>
          </a:prstGeom>
          <a:solidFill>
            <a:srgbClr val="E8F1F2"/>
          </a:solidFill>
          <a:ln/>
        </p:spPr>
        <p:txBody>
          <a:bodyPr/>
          <a:p/>
        </p:txBody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50608" y="2075688"/>
            <a:ext cx="329184" cy="329184"/>
          </a:xfrm>
          <a:prstGeom prst="rect">
            <a:avLst/>
          </a:prstGeom>
        </p:spPr>
      </p:pic>
      <p:sp>
        <p:nvSpPr>
          <p:cNvPr id="14" name="Text 10"/>
          <p:cNvSpPr/>
          <p:nvPr/>
        </p:nvSpPr>
        <p:spPr>
          <a:xfrm>
            <a:off x="7863840" y="1810512"/>
            <a:ext cx="3566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0E2E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 Time</a:t>
            </a:r>
            <a:endParaRPr lang="en-US" sz="1700" dirty="0"/>
          </a:p>
        </p:txBody>
      </p:sp>
      <p:sp>
        <p:nvSpPr>
          <p:cNvPr id="15" name="Text 11"/>
          <p:cNvSpPr/>
          <p:nvPr/>
        </p:nvSpPr>
        <p:spPr>
          <a:xfrm>
            <a:off x="7863840" y="2212848"/>
            <a:ext cx="3611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5B70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Hours lost to manual back-and-forth scheduling.</a:t>
            </a:r>
            <a:endParaRPr lang="en-US" sz="1250" dirty="0"/>
          </a:p>
        </p:txBody>
      </p:sp>
      <p:sp>
        <p:nvSpPr>
          <p:cNvPr id="16" name="Shape 12"/>
          <p:cNvSpPr/>
          <p:nvPr/>
        </p:nvSpPr>
        <p:spPr>
          <a:xfrm>
            <a:off x="6720840" y="3127248"/>
            <a:ext cx="4919472" cy="137160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12700">
            <a:solidFill>
              <a:srgbClr val="D5E2E4"/>
            </a:solidFill>
            <a:prstDash val="solid"/>
          </a:ln>
          <a:effectLst>
            <a:outerShdw sx="100000" sy="100000" kx="0" ky="0" algn="bl" rotWithShape="0" blurRad="76200" dist="25400" dir="5400000">
              <a:srgbClr val="BCCBCD">
                <a:alpha val="50000"/>
              </a:srgbClr>
            </a:outerShdw>
          </a:effectLst>
        </p:spPr>
        <p:txBody>
          <a:bodyPr/>
          <a:p/>
        </p:txBody>
      </p:sp>
      <p:sp>
        <p:nvSpPr>
          <p:cNvPr id="17" name="Shape 13"/>
          <p:cNvSpPr/>
          <p:nvPr/>
        </p:nvSpPr>
        <p:spPr>
          <a:xfrm>
            <a:off x="6995160" y="3493008"/>
            <a:ext cx="640080" cy="640080"/>
          </a:xfrm>
          <a:prstGeom prst="ellipse">
            <a:avLst/>
          </a:prstGeom>
          <a:solidFill>
            <a:srgbClr val="E8F1F2"/>
          </a:solidFill>
          <a:ln/>
        </p:spPr>
        <p:txBody>
          <a:bodyPr/>
          <a:p/>
        </p:txBody>
      </p:sp>
      <p:pic>
        <p:nvPicPr>
          <p:cNvPr id="18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150608" y="3648456"/>
            <a:ext cx="329184" cy="329184"/>
          </a:xfrm>
          <a:prstGeom prst="rect">
            <a:avLst/>
          </a:prstGeom>
        </p:spPr>
      </p:pic>
      <p:sp>
        <p:nvSpPr>
          <p:cNvPr id="19" name="Text 14"/>
          <p:cNvSpPr/>
          <p:nvPr/>
        </p:nvSpPr>
        <p:spPr>
          <a:xfrm>
            <a:off x="7863840" y="3383280"/>
            <a:ext cx="3566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0E2E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Errors</a:t>
            </a:r>
            <a:endParaRPr lang="en-US" sz="1700" dirty="0"/>
          </a:p>
        </p:txBody>
      </p:sp>
      <p:sp>
        <p:nvSpPr>
          <p:cNvPr id="20" name="Text 15"/>
          <p:cNvSpPr/>
          <p:nvPr/>
        </p:nvSpPr>
        <p:spPr>
          <a:xfrm>
            <a:off x="7863840" y="3785616"/>
            <a:ext cx="3611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5B70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Double-bookings and mistakes from manual entry.</a:t>
            </a:r>
            <a:endParaRPr lang="en-US" sz="1250" dirty="0"/>
          </a:p>
        </p:txBody>
      </p:sp>
      <p:sp>
        <p:nvSpPr>
          <p:cNvPr id="21" name="Shape 16"/>
          <p:cNvSpPr/>
          <p:nvPr/>
        </p:nvSpPr>
        <p:spPr>
          <a:xfrm>
            <a:off x="6720840" y="4700016"/>
            <a:ext cx="4919472" cy="137160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12700">
            <a:solidFill>
              <a:srgbClr val="D5E2E4"/>
            </a:solidFill>
            <a:prstDash val="solid"/>
          </a:ln>
          <a:effectLst>
            <a:outerShdw sx="100000" sy="100000" kx="0" ky="0" algn="bl" rotWithShape="0" blurRad="76200" dist="25400" dir="5400000">
              <a:srgbClr val="BCCBCD">
                <a:alpha val="50000"/>
              </a:srgbClr>
            </a:outerShdw>
          </a:effectLst>
        </p:spPr>
        <p:txBody>
          <a:bodyPr/>
          <a:p/>
        </p:txBody>
      </p:sp>
      <p:sp>
        <p:nvSpPr>
          <p:cNvPr id="22" name="Shape 17"/>
          <p:cNvSpPr/>
          <p:nvPr/>
        </p:nvSpPr>
        <p:spPr>
          <a:xfrm>
            <a:off x="6995160" y="5065776"/>
            <a:ext cx="640080" cy="640080"/>
          </a:xfrm>
          <a:prstGeom prst="ellipse">
            <a:avLst/>
          </a:prstGeom>
          <a:solidFill>
            <a:srgbClr val="E8F1F2"/>
          </a:solidFill>
          <a:ln/>
        </p:spPr>
        <p:txBody>
          <a:bodyPr/>
          <a:p/>
        </p:txBody>
      </p:sp>
      <p:pic>
        <p:nvPicPr>
          <p:cNvPr id="23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150608" y="5221224"/>
            <a:ext cx="329184" cy="329184"/>
          </a:xfrm>
          <a:prstGeom prst="rect">
            <a:avLst/>
          </a:prstGeom>
        </p:spPr>
      </p:pic>
      <p:sp>
        <p:nvSpPr>
          <p:cNvPr id="24" name="Text 18"/>
          <p:cNvSpPr/>
          <p:nvPr/>
        </p:nvSpPr>
        <p:spPr>
          <a:xfrm>
            <a:off x="7863840" y="4956048"/>
            <a:ext cx="3566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0E2E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Frustration</a:t>
            </a:r>
            <a:endParaRPr lang="en-US" sz="1700" dirty="0"/>
          </a:p>
        </p:txBody>
      </p:sp>
      <p:sp>
        <p:nvSpPr>
          <p:cNvPr id="25" name="Text 19"/>
          <p:cNvSpPr/>
          <p:nvPr/>
        </p:nvSpPr>
        <p:spPr>
          <a:xfrm>
            <a:off x="7863840" y="5358384"/>
            <a:ext cx="3611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5B70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Slow responses hurt customer satisfaction.</a:t>
            </a:r>
            <a:endParaRPr lang="en-US" sz="1250" dirty="0"/>
          </a:p>
        </p:txBody>
      </p:sp>
      <p:sp>
        <p:nvSpPr>
          <p:cNvPr id="26" name="Text 20"/>
          <p:cNvSpPr/>
          <p:nvPr/>
        </p:nvSpPr>
        <p:spPr>
          <a:xfrm>
            <a:off x="548640" y="644652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B70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AI-Powered Appointment Management Assistant  ·  Salesforce Capstone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75488"/>
            <a:ext cx="585216" cy="585216"/>
          </a:xfrm>
          <a:prstGeom prst="ellipse">
            <a:avLst/>
          </a:prstGeom>
          <a:solidFill>
            <a:srgbClr val="028090"/>
          </a:solidFill>
          <a:ln/>
        </p:spPr>
        <p:txBody>
          <a:bodyPr/>
          <a:p/>
        </p:txBody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94944" y="621792"/>
            <a:ext cx="292608" cy="292608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335024" y="457200"/>
            <a:ext cx="1003096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E2E3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Objectives</a:t>
            </a:r>
            <a:endParaRPr lang="en-US" sz="3000" dirty="0"/>
          </a:p>
        </p:txBody>
      </p:sp>
      <p:sp>
        <p:nvSpPr>
          <p:cNvPr id="5" name="Text 2"/>
          <p:cNvSpPr/>
          <p:nvPr/>
        </p:nvSpPr>
        <p:spPr>
          <a:xfrm>
            <a:off x="11183112" y="502920"/>
            <a:ext cx="4572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5B70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300" dirty="0"/>
          </a:p>
        </p:txBody>
      </p:sp>
      <p:sp>
        <p:nvSpPr>
          <p:cNvPr id="6" name="Shape 3"/>
          <p:cNvSpPr/>
          <p:nvPr/>
        </p:nvSpPr>
        <p:spPr>
          <a:xfrm>
            <a:off x="548640" y="1261872"/>
            <a:ext cx="1005840" cy="0"/>
          </a:xfrm>
          <a:prstGeom prst="line">
            <a:avLst/>
          </a:prstGeom>
          <a:noFill/>
          <a:ln w="31750">
            <a:solidFill>
              <a:srgbClr val="02C39A"/>
            </a:solidFill>
            <a:prstDash val="solid"/>
          </a:ln>
        </p:spPr>
        <p:txBody>
          <a:bodyPr/>
          <a:p/>
        </p:txBody>
      </p:sp>
      <p:sp>
        <p:nvSpPr>
          <p:cNvPr id="7" name="Shape 4"/>
          <p:cNvSpPr/>
          <p:nvPr/>
        </p:nvSpPr>
        <p:spPr>
          <a:xfrm>
            <a:off x="548640" y="1600200"/>
            <a:ext cx="5285232" cy="1353312"/>
          </a:xfrm>
          <a:prstGeom prst="roundRect">
            <a:avLst>
              <a:gd name="adj" fmla="val 6757"/>
            </a:avLst>
          </a:prstGeom>
          <a:solidFill>
            <a:srgbClr val="F1F6F7"/>
          </a:solidFill>
          <a:ln w="12700">
            <a:solidFill>
              <a:srgbClr val="D5E2E4"/>
            </a:solidFill>
            <a:prstDash val="solid"/>
          </a:ln>
        </p:spPr>
        <p:txBody>
          <a:bodyPr/>
          <a:p/>
        </p:txBody>
      </p:sp>
      <p:sp>
        <p:nvSpPr>
          <p:cNvPr id="8" name="Shape 5"/>
          <p:cNvSpPr/>
          <p:nvPr/>
        </p:nvSpPr>
        <p:spPr>
          <a:xfrm>
            <a:off x="804672" y="1911096"/>
            <a:ext cx="731520" cy="731520"/>
          </a:xfrm>
          <a:prstGeom prst="ellipse">
            <a:avLst/>
          </a:prstGeom>
          <a:solidFill>
            <a:srgbClr val="028090"/>
          </a:solidFill>
          <a:ln/>
        </p:spPr>
        <p:txBody>
          <a:bodyPr/>
          <a:p/>
        </p:txBody>
      </p:sp>
      <p:sp>
        <p:nvSpPr>
          <p:cNvPr id="9" name="Text 6"/>
          <p:cNvSpPr/>
          <p:nvPr/>
        </p:nvSpPr>
        <p:spPr>
          <a:xfrm>
            <a:off x="804672" y="1911096"/>
            <a:ext cx="7315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2200" dirty="0"/>
          </a:p>
        </p:txBody>
      </p:sp>
      <p:sp>
        <p:nvSpPr>
          <p:cNvPr id="10" name="Text 7"/>
          <p:cNvSpPr/>
          <p:nvPr/>
        </p:nvSpPr>
        <p:spPr>
          <a:xfrm>
            <a:off x="1737360" y="1819656"/>
            <a:ext cx="3867912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650" b="1" dirty="0">
                <a:solidFill>
                  <a:srgbClr val="0E2E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Secure data model</a:t>
            </a:r>
            <a:endParaRPr lang="en-US" sz="1650" dirty="0"/>
          </a:p>
        </p:txBody>
      </p:sp>
      <p:sp>
        <p:nvSpPr>
          <p:cNvPr id="11" name="Text 8"/>
          <p:cNvSpPr/>
          <p:nvPr/>
        </p:nvSpPr>
        <p:spPr>
          <a:xfrm>
            <a:off x="1737360" y="2221992"/>
            <a:ext cx="3867912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5B70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Design a scalable Salesforce data model for appointments.</a:t>
            </a:r>
            <a:endParaRPr lang="en-US" sz="1250" dirty="0"/>
          </a:p>
        </p:txBody>
      </p:sp>
      <p:sp>
        <p:nvSpPr>
          <p:cNvPr id="12" name="Shape 9"/>
          <p:cNvSpPr/>
          <p:nvPr/>
        </p:nvSpPr>
        <p:spPr>
          <a:xfrm>
            <a:off x="6355080" y="1600200"/>
            <a:ext cx="5285232" cy="1353312"/>
          </a:xfrm>
          <a:prstGeom prst="roundRect">
            <a:avLst>
              <a:gd name="adj" fmla="val 6757"/>
            </a:avLst>
          </a:prstGeom>
          <a:solidFill>
            <a:srgbClr val="F1F6F7"/>
          </a:solidFill>
          <a:ln w="12700">
            <a:solidFill>
              <a:srgbClr val="D5E2E4"/>
            </a:solidFill>
            <a:prstDash val="solid"/>
          </a:ln>
        </p:spPr>
        <p:txBody>
          <a:bodyPr/>
          <a:p/>
        </p:txBody>
      </p:sp>
      <p:sp>
        <p:nvSpPr>
          <p:cNvPr id="13" name="Shape 10"/>
          <p:cNvSpPr/>
          <p:nvPr/>
        </p:nvSpPr>
        <p:spPr>
          <a:xfrm>
            <a:off x="6611112" y="1911096"/>
            <a:ext cx="731520" cy="731520"/>
          </a:xfrm>
          <a:prstGeom prst="ellipse">
            <a:avLst/>
          </a:prstGeom>
          <a:solidFill>
            <a:srgbClr val="028090"/>
          </a:solidFill>
          <a:ln/>
        </p:spPr>
        <p:txBody>
          <a:bodyPr/>
          <a:p/>
        </p:txBody>
      </p:sp>
      <p:sp>
        <p:nvSpPr>
          <p:cNvPr id="14" name="Text 11"/>
          <p:cNvSpPr/>
          <p:nvPr/>
        </p:nvSpPr>
        <p:spPr>
          <a:xfrm>
            <a:off x="6611112" y="1911096"/>
            <a:ext cx="7315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2200" dirty="0"/>
          </a:p>
        </p:txBody>
      </p:sp>
      <p:sp>
        <p:nvSpPr>
          <p:cNvPr id="15" name="Text 12"/>
          <p:cNvSpPr/>
          <p:nvPr/>
        </p:nvSpPr>
        <p:spPr>
          <a:xfrm>
            <a:off x="7543800" y="1819656"/>
            <a:ext cx="3867912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650" b="1" dirty="0">
                <a:solidFill>
                  <a:srgbClr val="0E2E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Automate workflows</a:t>
            </a:r>
            <a:endParaRPr lang="en-US" sz="1650" dirty="0"/>
          </a:p>
        </p:txBody>
      </p:sp>
      <p:sp>
        <p:nvSpPr>
          <p:cNvPr id="16" name="Text 13"/>
          <p:cNvSpPr/>
          <p:nvPr/>
        </p:nvSpPr>
        <p:spPr>
          <a:xfrm>
            <a:off x="7543800" y="2221992"/>
            <a:ext cx="3867912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5B70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Handle create / reschedule / cancel with Flow Builder.</a:t>
            </a:r>
            <a:endParaRPr lang="en-US" sz="1250" dirty="0"/>
          </a:p>
        </p:txBody>
      </p:sp>
      <p:sp>
        <p:nvSpPr>
          <p:cNvPr id="17" name="Shape 14"/>
          <p:cNvSpPr/>
          <p:nvPr/>
        </p:nvSpPr>
        <p:spPr>
          <a:xfrm>
            <a:off x="548640" y="3136392"/>
            <a:ext cx="5285232" cy="1353312"/>
          </a:xfrm>
          <a:prstGeom prst="roundRect">
            <a:avLst>
              <a:gd name="adj" fmla="val 6757"/>
            </a:avLst>
          </a:prstGeom>
          <a:solidFill>
            <a:srgbClr val="F1F6F7"/>
          </a:solidFill>
          <a:ln w="12700">
            <a:solidFill>
              <a:srgbClr val="D5E2E4"/>
            </a:solidFill>
            <a:prstDash val="solid"/>
          </a:ln>
        </p:spPr>
        <p:txBody>
          <a:bodyPr/>
          <a:p/>
        </p:txBody>
      </p:sp>
      <p:sp>
        <p:nvSpPr>
          <p:cNvPr id="18" name="Shape 15"/>
          <p:cNvSpPr/>
          <p:nvPr/>
        </p:nvSpPr>
        <p:spPr>
          <a:xfrm>
            <a:off x="804672" y="3447288"/>
            <a:ext cx="731520" cy="731520"/>
          </a:xfrm>
          <a:prstGeom prst="ellipse">
            <a:avLst/>
          </a:prstGeom>
          <a:solidFill>
            <a:srgbClr val="028090"/>
          </a:solidFill>
          <a:ln/>
        </p:spPr>
        <p:txBody>
          <a:bodyPr/>
          <a:p/>
        </p:txBody>
      </p:sp>
      <p:sp>
        <p:nvSpPr>
          <p:cNvPr id="19" name="Text 16"/>
          <p:cNvSpPr/>
          <p:nvPr/>
        </p:nvSpPr>
        <p:spPr>
          <a:xfrm>
            <a:off x="804672" y="3447288"/>
            <a:ext cx="7315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2200" dirty="0"/>
          </a:p>
        </p:txBody>
      </p:sp>
      <p:sp>
        <p:nvSpPr>
          <p:cNvPr id="20" name="Text 17"/>
          <p:cNvSpPr/>
          <p:nvPr/>
        </p:nvSpPr>
        <p:spPr>
          <a:xfrm>
            <a:off x="1737360" y="3355848"/>
            <a:ext cx="3867912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650" b="1" dirty="0">
                <a:solidFill>
                  <a:srgbClr val="0E2E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Booking interface</a:t>
            </a:r>
            <a:endParaRPr lang="en-US" sz="1650" dirty="0"/>
          </a:p>
        </p:txBody>
      </p:sp>
      <p:sp>
        <p:nvSpPr>
          <p:cNvPr id="21" name="Text 18"/>
          <p:cNvSpPr/>
          <p:nvPr/>
        </p:nvSpPr>
        <p:spPr>
          <a:xfrm>
            <a:off x="1737360" y="3758184"/>
            <a:ext cx="3867912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5B70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Provide a user-friendly Screen Flow for booking.</a:t>
            </a:r>
            <a:endParaRPr lang="en-US" sz="1250" dirty="0"/>
          </a:p>
        </p:txBody>
      </p:sp>
      <p:sp>
        <p:nvSpPr>
          <p:cNvPr id="22" name="Shape 19"/>
          <p:cNvSpPr/>
          <p:nvPr/>
        </p:nvSpPr>
        <p:spPr>
          <a:xfrm>
            <a:off x="6355080" y="3136392"/>
            <a:ext cx="5285232" cy="1353312"/>
          </a:xfrm>
          <a:prstGeom prst="roundRect">
            <a:avLst>
              <a:gd name="adj" fmla="val 6757"/>
            </a:avLst>
          </a:prstGeom>
          <a:solidFill>
            <a:srgbClr val="F1F6F7"/>
          </a:solidFill>
          <a:ln w="12700">
            <a:solidFill>
              <a:srgbClr val="D5E2E4"/>
            </a:solidFill>
            <a:prstDash val="solid"/>
          </a:ln>
        </p:spPr>
        <p:txBody>
          <a:bodyPr/>
          <a:p/>
        </p:txBody>
      </p:sp>
      <p:sp>
        <p:nvSpPr>
          <p:cNvPr id="23" name="Shape 20"/>
          <p:cNvSpPr/>
          <p:nvPr/>
        </p:nvSpPr>
        <p:spPr>
          <a:xfrm>
            <a:off x="6611112" y="3447288"/>
            <a:ext cx="731520" cy="731520"/>
          </a:xfrm>
          <a:prstGeom prst="ellipse">
            <a:avLst/>
          </a:prstGeom>
          <a:solidFill>
            <a:srgbClr val="028090"/>
          </a:solidFill>
          <a:ln/>
        </p:spPr>
        <p:txBody>
          <a:bodyPr/>
          <a:p/>
        </p:txBody>
      </p:sp>
      <p:sp>
        <p:nvSpPr>
          <p:cNvPr id="24" name="Text 21"/>
          <p:cNvSpPr/>
          <p:nvPr/>
        </p:nvSpPr>
        <p:spPr>
          <a:xfrm>
            <a:off x="6611112" y="3447288"/>
            <a:ext cx="7315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2200" dirty="0"/>
          </a:p>
        </p:txBody>
      </p:sp>
      <p:sp>
        <p:nvSpPr>
          <p:cNvPr id="25" name="Text 22"/>
          <p:cNvSpPr/>
          <p:nvPr/>
        </p:nvSpPr>
        <p:spPr>
          <a:xfrm>
            <a:off x="7543800" y="3355848"/>
            <a:ext cx="3867912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650" b="1" dirty="0">
                <a:solidFill>
                  <a:srgbClr val="0E2E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Admin application</a:t>
            </a:r>
            <a:endParaRPr lang="en-US" sz="1650" dirty="0"/>
          </a:p>
        </p:txBody>
      </p:sp>
      <p:sp>
        <p:nvSpPr>
          <p:cNvPr id="26" name="Text 23"/>
          <p:cNvSpPr/>
          <p:nvPr/>
        </p:nvSpPr>
        <p:spPr>
          <a:xfrm>
            <a:off x="7543800" y="3758184"/>
            <a:ext cx="3867912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5B70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 a Lightning App and custom LWC for administrators.</a:t>
            </a:r>
            <a:endParaRPr lang="en-US" sz="1250" dirty="0"/>
          </a:p>
        </p:txBody>
      </p:sp>
      <p:sp>
        <p:nvSpPr>
          <p:cNvPr id="27" name="Shape 24"/>
          <p:cNvSpPr/>
          <p:nvPr/>
        </p:nvSpPr>
        <p:spPr>
          <a:xfrm>
            <a:off x="548640" y="4672584"/>
            <a:ext cx="5285232" cy="1353312"/>
          </a:xfrm>
          <a:prstGeom prst="roundRect">
            <a:avLst>
              <a:gd name="adj" fmla="val 6757"/>
            </a:avLst>
          </a:prstGeom>
          <a:solidFill>
            <a:srgbClr val="F1F6F7"/>
          </a:solidFill>
          <a:ln w="12700">
            <a:solidFill>
              <a:srgbClr val="D5E2E4"/>
            </a:solidFill>
            <a:prstDash val="solid"/>
          </a:ln>
        </p:spPr>
        <p:txBody>
          <a:bodyPr/>
          <a:p/>
        </p:txBody>
      </p:sp>
      <p:sp>
        <p:nvSpPr>
          <p:cNvPr id="28" name="Shape 25"/>
          <p:cNvSpPr/>
          <p:nvPr/>
        </p:nvSpPr>
        <p:spPr>
          <a:xfrm>
            <a:off x="804672" y="4983480"/>
            <a:ext cx="731520" cy="731520"/>
          </a:xfrm>
          <a:prstGeom prst="ellipse">
            <a:avLst/>
          </a:prstGeom>
          <a:solidFill>
            <a:srgbClr val="028090"/>
          </a:solidFill>
          <a:ln/>
        </p:spPr>
        <p:txBody>
          <a:bodyPr/>
          <a:p/>
        </p:txBody>
      </p:sp>
      <p:sp>
        <p:nvSpPr>
          <p:cNvPr id="29" name="Text 26"/>
          <p:cNvSpPr/>
          <p:nvPr/>
        </p:nvSpPr>
        <p:spPr>
          <a:xfrm>
            <a:off x="804672" y="4983480"/>
            <a:ext cx="7315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</a:t>
            </a:r>
            <a:endParaRPr lang="en-US" sz="2200" dirty="0"/>
          </a:p>
        </p:txBody>
      </p:sp>
      <p:sp>
        <p:nvSpPr>
          <p:cNvPr id="30" name="Text 27"/>
          <p:cNvSpPr/>
          <p:nvPr/>
        </p:nvSpPr>
        <p:spPr>
          <a:xfrm>
            <a:off x="1737360" y="4892040"/>
            <a:ext cx="3867912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650" b="1" dirty="0">
                <a:solidFill>
                  <a:srgbClr val="0E2E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Reporting insight</a:t>
            </a:r>
            <a:endParaRPr lang="en-US" sz="1650" dirty="0"/>
          </a:p>
        </p:txBody>
      </p:sp>
      <p:sp>
        <p:nvSpPr>
          <p:cNvPr id="31" name="Text 28"/>
          <p:cNvSpPr/>
          <p:nvPr/>
        </p:nvSpPr>
        <p:spPr>
          <a:xfrm>
            <a:off x="1737360" y="5294376"/>
            <a:ext cx="3867912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5B70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Enable reports and dashboards for visibility.</a:t>
            </a:r>
            <a:endParaRPr lang="en-US" sz="1250" dirty="0"/>
          </a:p>
        </p:txBody>
      </p:sp>
      <p:sp>
        <p:nvSpPr>
          <p:cNvPr id="32" name="Shape 29"/>
          <p:cNvSpPr/>
          <p:nvPr/>
        </p:nvSpPr>
        <p:spPr>
          <a:xfrm>
            <a:off x="6355080" y="4672584"/>
            <a:ext cx="5285232" cy="1353312"/>
          </a:xfrm>
          <a:prstGeom prst="roundRect">
            <a:avLst>
              <a:gd name="adj" fmla="val 6757"/>
            </a:avLst>
          </a:prstGeom>
          <a:solidFill>
            <a:srgbClr val="F1F6F7"/>
          </a:solidFill>
          <a:ln w="12700">
            <a:solidFill>
              <a:srgbClr val="D5E2E4"/>
            </a:solidFill>
            <a:prstDash val="solid"/>
          </a:ln>
        </p:spPr>
        <p:txBody>
          <a:bodyPr/>
          <a:p/>
        </p:txBody>
      </p:sp>
      <p:sp>
        <p:nvSpPr>
          <p:cNvPr id="33" name="Shape 30"/>
          <p:cNvSpPr/>
          <p:nvPr/>
        </p:nvSpPr>
        <p:spPr>
          <a:xfrm>
            <a:off x="6611112" y="4983480"/>
            <a:ext cx="731520" cy="731520"/>
          </a:xfrm>
          <a:prstGeom prst="ellipse">
            <a:avLst/>
          </a:prstGeom>
          <a:solidFill>
            <a:srgbClr val="028090"/>
          </a:solidFill>
          <a:ln/>
        </p:spPr>
        <p:txBody>
          <a:bodyPr/>
          <a:p/>
        </p:txBody>
      </p:sp>
      <p:sp>
        <p:nvSpPr>
          <p:cNvPr id="34" name="Text 31"/>
          <p:cNvSpPr/>
          <p:nvPr/>
        </p:nvSpPr>
        <p:spPr>
          <a:xfrm>
            <a:off x="6611112" y="4983480"/>
            <a:ext cx="7315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</a:t>
            </a:r>
            <a:endParaRPr lang="en-US" sz="2200" dirty="0"/>
          </a:p>
        </p:txBody>
      </p:sp>
      <p:sp>
        <p:nvSpPr>
          <p:cNvPr id="35" name="Text 32"/>
          <p:cNvSpPr/>
          <p:nvPr/>
        </p:nvSpPr>
        <p:spPr>
          <a:xfrm>
            <a:off x="7543800" y="4892040"/>
            <a:ext cx="3867912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650" b="1" dirty="0">
                <a:solidFill>
                  <a:srgbClr val="0E2E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AI-ready design</a:t>
            </a:r>
            <a:endParaRPr lang="en-US" sz="1650" dirty="0"/>
          </a:p>
        </p:txBody>
      </p:sp>
      <p:sp>
        <p:nvSpPr>
          <p:cNvPr id="36" name="Text 33"/>
          <p:cNvSpPr/>
          <p:nvPr/>
        </p:nvSpPr>
        <p:spPr>
          <a:xfrm>
            <a:off x="7543800" y="5294376"/>
            <a:ext cx="3867912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5B70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Prepare agent-ready automation for Agentforce.</a:t>
            </a:r>
            <a:endParaRPr lang="en-US" sz="1250" dirty="0"/>
          </a:p>
        </p:txBody>
      </p:sp>
      <p:sp>
        <p:nvSpPr>
          <p:cNvPr id="37" name="Text 34"/>
          <p:cNvSpPr/>
          <p:nvPr/>
        </p:nvSpPr>
        <p:spPr>
          <a:xfrm>
            <a:off x="548640" y="644652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B70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AI-Powered Appointment Management Assistant  ·  Salesforce Capstone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75488"/>
            <a:ext cx="585216" cy="585216"/>
          </a:xfrm>
          <a:prstGeom prst="ellipse">
            <a:avLst/>
          </a:prstGeom>
          <a:solidFill>
            <a:srgbClr val="028090"/>
          </a:solidFill>
          <a:ln/>
        </p:spPr>
        <p:txBody>
          <a:bodyPr/>
          <a:p/>
        </p:txBody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94944" y="621792"/>
            <a:ext cx="292608" cy="292608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335024" y="457200"/>
            <a:ext cx="1003096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E2E3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Solution Overview &amp; Architecture</a:t>
            </a:r>
            <a:endParaRPr lang="en-US" sz="3000" dirty="0"/>
          </a:p>
        </p:txBody>
      </p:sp>
      <p:sp>
        <p:nvSpPr>
          <p:cNvPr id="5" name="Text 2"/>
          <p:cNvSpPr/>
          <p:nvPr/>
        </p:nvSpPr>
        <p:spPr>
          <a:xfrm>
            <a:off x="11183112" y="502920"/>
            <a:ext cx="4572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5B70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300" dirty="0"/>
          </a:p>
        </p:txBody>
      </p:sp>
      <p:sp>
        <p:nvSpPr>
          <p:cNvPr id="6" name="Shape 3"/>
          <p:cNvSpPr/>
          <p:nvPr/>
        </p:nvSpPr>
        <p:spPr>
          <a:xfrm>
            <a:off x="548640" y="1261872"/>
            <a:ext cx="1005840" cy="0"/>
          </a:xfrm>
          <a:prstGeom prst="line">
            <a:avLst/>
          </a:prstGeom>
          <a:noFill/>
          <a:ln w="31750">
            <a:solidFill>
              <a:srgbClr val="02C39A"/>
            </a:solidFill>
            <a:prstDash val="solid"/>
          </a:ln>
        </p:spPr>
        <p:txBody>
          <a:bodyPr/>
          <a:p/>
        </p:txBody>
      </p:sp>
      <p:sp>
        <p:nvSpPr>
          <p:cNvPr id="7" name="Text 4"/>
          <p:cNvSpPr/>
          <p:nvPr/>
        </p:nvSpPr>
        <p:spPr>
          <a:xfrm>
            <a:off x="548640" y="1417320"/>
            <a:ext cx="110642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5B70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layered solution: a user — or a future AI agent — triggers reusable Flows that manage appointment records and feed live reporting.</a:t>
            </a:r>
            <a:endParaRPr lang="en-US" sz="1400" dirty="0"/>
          </a:p>
        </p:txBody>
      </p:sp>
      <p:sp>
        <p:nvSpPr>
          <p:cNvPr id="8" name="Shape 5"/>
          <p:cNvSpPr/>
          <p:nvPr/>
        </p:nvSpPr>
        <p:spPr>
          <a:xfrm>
            <a:off x="640080" y="2286000"/>
            <a:ext cx="2487168" cy="2148840"/>
          </a:xfrm>
          <a:prstGeom prst="roundRect">
            <a:avLst>
              <a:gd name="adj" fmla="val 5106"/>
            </a:avLst>
          </a:prstGeom>
          <a:solidFill>
            <a:srgbClr val="FFFFFF"/>
          </a:solidFill>
          <a:ln w="15875">
            <a:solidFill>
              <a:srgbClr val="D5E2E4"/>
            </a:solidFill>
            <a:prstDash val="solid"/>
          </a:ln>
          <a:effectLst>
            <a:outerShdw sx="100000" sy="100000" kx="0" ky="0" algn="bl" rotWithShape="0" blurRad="88900" dist="25400" dir="5400000">
              <a:srgbClr val="BCCBCD">
                <a:alpha val="50000"/>
              </a:srgbClr>
            </a:outerShdw>
          </a:effectLst>
        </p:spPr>
        <p:txBody>
          <a:bodyPr/>
          <a:p/>
        </p:txBody>
      </p:sp>
      <p:sp>
        <p:nvSpPr>
          <p:cNvPr id="9" name="Shape 6"/>
          <p:cNvSpPr/>
          <p:nvPr/>
        </p:nvSpPr>
        <p:spPr>
          <a:xfrm>
            <a:off x="1426464" y="2578608"/>
            <a:ext cx="914400" cy="914400"/>
          </a:xfrm>
          <a:prstGeom prst="ellipse">
            <a:avLst/>
          </a:prstGeom>
          <a:solidFill>
            <a:srgbClr val="028090"/>
          </a:solidFill>
          <a:ln/>
        </p:spPr>
        <p:txBody>
          <a:bodyPr/>
          <a:p/>
        </p:txBody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45920" y="2798064"/>
            <a:ext cx="475488" cy="475488"/>
          </a:xfrm>
          <a:prstGeom prst="rect">
            <a:avLst/>
          </a:prstGeom>
        </p:spPr>
      </p:pic>
      <p:sp>
        <p:nvSpPr>
          <p:cNvPr id="11" name="Text 7"/>
          <p:cNvSpPr/>
          <p:nvPr/>
        </p:nvSpPr>
        <p:spPr>
          <a:xfrm>
            <a:off x="749808" y="3584448"/>
            <a:ext cx="2267712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E2E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User / AI Agent</a:t>
            </a:r>
            <a:endParaRPr lang="en-US" sz="1500" dirty="0"/>
          </a:p>
        </p:txBody>
      </p:sp>
      <p:sp>
        <p:nvSpPr>
          <p:cNvPr id="12" name="Text 8"/>
          <p:cNvSpPr/>
          <p:nvPr/>
        </p:nvSpPr>
        <p:spPr>
          <a:xfrm>
            <a:off x="786384" y="3950208"/>
            <a:ext cx="21945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5B70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Requests via Screen Flow or Agentforce</a:t>
            </a:r>
            <a:endParaRPr lang="en-US" sz="1150" dirty="0"/>
          </a:p>
        </p:txBody>
      </p:sp>
      <p:sp>
        <p:nvSpPr>
          <p:cNvPr id="13" name="Shape 9"/>
          <p:cNvSpPr/>
          <p:nvPr/>
        </p:nvSpPr>
        <p:spPr>
          <a:xfrm>
            <a:off x="3145536" y="3159252"/>
            <a:ext cx="365760" cy="402336"/>
          </a:xfrm>
          <a:prstGeom prst="chevron">
            <a:avLst/>
          </a:prstGeom>
          <a:solidFill>
            <a:srgbClr val="02C39A"/>
          </a:solidFill>
          <a:ln/>
        </p:spPr>
        <p:txBody>
          <a:bodyPr/>
          <a:p/>
        </p:txBody>
      </p:sp>
      <p:sp>
        <p:nvSpPr>
          <p:cNvPr id="14" name="Shape 10"/>
          <p:cNvSpPr/>
          <p:nvPr/>
        </p:nvSpPr>
        <p:spPr>
          <a:xfrm>
            <a:off x="3511296" y="2286000"/>
            <a:ext cx="2487168" cy="2148840"/>
          </a:xfrm>
          <a:prstGeom prst="roundRect">
            <a:avLst>
              <a:gd name="adj" fmla="val 5106"/>
            </a:avLst>
          </a:prstGeom>
          <a:solidFill>
            <a:srgbClr val="FFFFFF"/>
          </a:solidFill>
          <a:ln w="15875">
            <a:solidFill>
              <a:srgbClr val="D5E2E4"/>
            </a:solidFill>
            <a:prstDash val="solid"/>
          </a:ln>
          <a:effectLst>
            <a:outerShdw sx="100000" sy="100000" kx="0" ky="0" algn="bl" rotWithShape="0" blurRad="88900" dist="25400" dir="5400000">
              <a:srgbClr val="BCCBCD">
                <a:alpha val="50000"/>
              </a:srgbClr>
            </a:outerShdw>
          </a:effectLst>
        </p:spPr>
        <p:txBody>
          <a:bodyPr/>
          <a:p/>
        </p:txBody>
      </p:sp>
      <p:sp>
        <p:nvSpPr>
          <p:cNvPr id="15" name="Shape 11"/>
          <p:cNvSpPr/>
          <p:nvPr/>
        </p:nvSpPr>
        <p:spPr>
          <a:xfrm>
            <a:off x="4297680" y="2578608"/>
            <a:ext cx="914400" cy="914400"/>
          </a:xfrm>
          <a:prstGeom prst="ellipse">
            <a:avLst/>
          </a:prstGeom>
          <a:solidFill>
            <a:srgbClr val="00A896"/>
          </a:solidFill>
          <a:ln/>
        </p:spPr>
        <p:txBody>
          <a:bodyPr/>
          <a:p/>
        </p:txBody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17136" y="2798064"/>
            <a:ext cx="475488" cy="475488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3621024" y="3584448"/>
            <a:ext cx="2267712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E2E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Salesforce Flows</a:t>
            </a:r>
            <a:endParaRPr lang="en-US" sz="1500" dirty="0"/>
          </a:p>
        </p:txBody>
      </p:sp>
      <p:sp>
        <p:nvSpPr>
          <p:cNvPr id="18" name="Text 13"/>
          <p:cNvSpPr/>
          <p:nvPr/>
        </p:nvSpPr>
        <p:spPr>
          <a:xfrm>
            <a:off x="3657600" y="3950208"/>
            <a:ext cx="21945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5B70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Create · Reschedule · Cancel logic</a:t>
            </a:r>
            <a:endParaRPr lang="en-US" sz="1150" dirty="0"/>
          </a:p>
        </p:txBody>
      </p:sp>
      <p:sp>
        <p:nvSpPr>
          <p:cNvPr id="19" name="Shape 14"/>
          <p:cNvSpPr/>
          <p:nvPr/>
        </p:nvSpPr>
        <p:spPr>
          <a:xfrm>
            <a:off x="6016752" y="3159252"/>
            <a:ext cx="365760" cy="402336"/>
          </a:xfrm>
          <a:prstGeom prst="chevron">
            <a:avLst/>
          </a:prstGeom>
          <a:solidFill>
            <a:srgbClr val="02C39A"/>
          </a:solidFill>
          <a:ln/>
        </p:spPr>
        <p:txBody>
          <a:bodyPr/>
          <a:p/>
        </p:txBody>
      </p:sp>
      <p:sp>
        <p:nvSpPr>
          <p:cNvPr id="20" name="Shape 15"/>
          <p:cNvSpPr/>
          <p:nvPr/>
        </p:nvSpPr>
        <p:spPr>
          <a:xfrm>
            <a:off x="6382512" y="2286000"/>
            <a:ext cx="2487168" cy="2148840"/>
          </a:xfrm>
          <a:prstGeom prst="roundRect">
            <a:avLst>
              <a:gd name="adj" fmla="val 5106"/>
            </a:avLst>
          </a:prstGeom>
          <a:solidFill>
            <a:srgbClr val="FFFFFF"/>
          </a:solidFill>
          <a:ln w="15875">
            <a:solidFill>
              <a:srgbClr val="D5E2E4"/>
            </a:solidFill>
            <a:prstDash val="solid"/>
          </a:ln>
          <a:effectLst>
            <a:outerShdw sx="100000" sy="100000" kx="0" ky="0" algn="bl" rotWithShape="0" blurRad="88900" dist="25400" dir="5400000">
              <a:srgbClr val="BCCBCD">
                <a:alpha val="50000"/>
              </a:srgbClr>
            </a:outerShdw>
          </a:effectLst>
        </p:spPr>
        <p:txBody>
          <a:bodyPr/>
          <a:p/>
        </p:txBody>
      </p:sp>
      <p:sp>
        <p:nvSpPr>
          <p:cNvPr id="21" name="Shape 16"/>
          <p:cNvSpPr/>
          <p:nvPr/>
        </p:nvSpPr>
        <p:spPr>
          <a:xfrm>
            <a:off x="7168896" y="2578608"/>
            <a:ext cx="914400" cy="914400"/>
          </a:xfrm>
          <a:prstGeom prst="ellipse">
            <a:avLst/>
          </a:prstGeom>
          <a:solidFill>
            <a:srgbClr val="028090"/>
          </a:solidFill>
          <a:ln/>
        </p:spPr>
        <p:txBody>
          <a:bodyPr/>
          <a:p/>
        </p:txBody>
      </p:sp>
      <p:pic>
        <p:nvPicPr>
          <p:cNvPr id="22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388352" y="2798064"/>
            <a:ext cx="475488" cy="475488"/>
          </a:xfrm>
          <a:prstGeom prst="rect">
            <a:avLst/>
          </a:prstGeom>
        </p:spPr>
      </p:pic>
      <p:sp>
        <p:nvSpPr>
          <p:cNvPr id="23" name="Text 17"/>
          <p:cNvSpPr/>
          <p:nvPr/>
        </p:nvSpPr>
        <p:spPr>
          <a:xfrm>
            <a:off x="6492240" y="3584448"/>
            <a:ext cx="2267712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E2E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Appointment Records</a:t>
            </a:r>
            <a:endParaRPr lang="en-US" sz="1500" dirty="0"/>
          </a:p>
        </p:txBody>
      </p:sp>
      <p:sp>
        <p:nvSpPr>
          <p:cNvPr id="24" name="Text 18"/>
          <p:cNvSpPr/>
          <p:nvPr/>
        </p:nvSpPr>
        <p:spPr>
          <a:xfrm>
            <a:off x="6528816" y="3950208"/>
            <a:ext cx="21945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5B70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Custom object stores all data</a:t>
            </a:r>
            <a:endParaRPr lang="en-US" sz="1150" dirty="0"/>
          </a:p>
        </p:txBody>
      </p:sp>
      <p:sp>
        <p:nvSpPr>
          <p:cNvPr id="25" name="Shape 19"/>
          <p:cNvSpPr/>
          <p:nvPr/>
        </p:nvSpPr>
        <p:spPr>
          <a:xfrm>
            <a:off x="8887968" y="3159252"/>
            <a:ext cx="365760" cy="402336"/>
          </a:xfrm>
          <a:prstGeom prst="chevron">
            <a:avLst/>
          </a:prstGeom>
          <a:solidFill>
            <a:srgbClr val="02C39A"/>
          </a:solidFill>
          <a:ln/>
        </p:spPr>
        <p:txBody>
          <a:bodyPr/>
          <a:p/>
        </p:txBody>
      </p:sp>
      <p:sp>
        <p:nvSpPr>
          <p:cNvPr id="26" name="Shape 20"/>
          <p:cNvSpPr/>
          <p:nvPr/>
        </p:nvSpPr>
        <p:spPr>
          <a:xfrm>
            <a:off x="9253728" y="2286000"/>
            <a:ext cx="2487168" cy="2148840"/>
          </a:xfrm>
          <a:prstGeom prst="roundRect">
            <a:avLst>
              <a:gd name="adj" fmla="val 5106"/>
            </a:avLst>
          </a:prstGeom>
          <a:solidFill>
            <a:srgbClr val="FFFFFF"/>
          </a:solidFill>
          <a:ln w="15875">
            <a:solidFill>
              <a:srgbClr val="D5E2E4"/>
            </a:solidFill>
            <a:prstDash val="solid"/>
          </a:ln>
          <a:effectLst>
            <a:outerShdw sx="100000" sy="100000" kx="0" ky="0" algn="bl" rotWithShape="0" blurRad="88900" dist="25400" dir="5400000">
              <a:srgbClr val="BCCBCD">
                <a:alpha val="50000"/>
              </a:srgbClr>
            </a:outerShdw>
          </a:effectLst>
        </p:spPr>
        <p:txBody>
          <a:bodyPr/>
          <a:p/>
        </p:txBody>
      </p:sp>
      <p:sp>
        <p:nvSpPr>
          <p:cNvPr id="27" name="Shape 21"/>
          <p:cNvSpPr/>
          <p:nvPr/>
        </p:nvSpPr>
        <p:spPr>
          <a:xfrm>
            <a:off x="10040112" y="2578608"/>
            <a:ext cx="914400" cy="914400"/>
          </a:xfrm>
          <a:prstGeom prst="ellipse">
            <a:avLst/>
          </a:prstGeom>
          <a:solidFill>
            <a:srgbClr val="00A896"/>
          </a:solidFill>
          <a:ln/>
        </p:spPr>
        <p:txBody>
          <a:bodyPr/>
          <a:p/>
        </p:txBody>
      </p:sp>
      <p:pic>
        <p:nvPicPr>
          <p:cNvPr id="28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259568" y="2798064"/>
            <a:ext cx="475488" cy="475488"/>
          </a:xfrm>
          <a:prstGeom prst="rect">
            <a:avLst/>
          </a:prstGeom>
        </p:spPr>
      </p:pic>
      <p:sp>
        <p:nvSpPr>
          <p:cNvPr id="29" name="Text 22"/>
          <p:cNvSpPr/>
          <p:nvPr/>
        </p:nvSpPr>
        <p:spPr>
          <a:xfrm>
            <a:off x="9363456" y="3584448"/>
            <a:ext cx="2267712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E2E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Reports &amp; Dashboard</a:t>
            </a:r>
            <a:endParaRPr lang="en-US" sz="1500" dirty="0"/>
          </a:p>
        </p:txBody>
      </p:sp>
      <p:sp>
        <p:nvSpPr>
          <p:cNvPr id="30" name="Text 23"/>
          <p:cNvSpPr/>
          <p:nvPr/>
        </p:nvSpPr>
        <p:spPr>
          <a:xfrm>
            <a:off x="9400032" y="3950208"/>
            <a:ext cx="21945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5B70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 insight by status</a:t>
            </a:r>
            <a:endParaRPr lang="en-US" sz="1150" dirty="0"/>
          </a:p>
        </p:txBody>
      </p:sp>
      <p:sp>
        <p:nvSpPr>
          <p:cNvPr id="31" name="Shape 24"/>
          <p:cNvSpPr/>
          <p:nvPr/>
        </p:nvSpPr>
        <p:spPr>
          <a:xfrm>
            <a:off x="548640" y="4892040"/>
            <a:ext cx="11091672" cy="960120"/>
          </a:xfrm>
          <a:prstGeom prst="roundRect">
            <a:avLst>
              <a:gd name="adj" fmla="val 9524"/>
            </a:avLst>
          </a:prstGeom>
          <a:solidFill>
            <a:srgbClr val="F1F6F7"/>
          </a:solidFill>
          <a:ln w="12700">
            <a:solidFill>
              <a:srgbClr val="D5E2E4"/>
            </a:solidFill>
            <a:prstDash val="solid"/>
          </a:ln>
        </p:spPr>
        <p:txBody>
          <a:bodyPr/>
          <a:p/>
        </p:txBody>
      </p:sp>
      <p:sp>
        <p:nvSpPr>
          <p:cNvPr id="32" name="Text 25"/>
          <p:cNvSpPr/>
          <p:nvPr/>
        </p:nvSpPr>
        <p:spPr>
          <a:xfrm>
            <a:off x="777240" y="4892040"/>
            <a:ext cx="1060704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Decoupled by design:  </a:t>
            </a:r>
            <a:pPr algn="l" indent="0" marL="0">
              <a:buNone/>
            </a:pPr>
            <a:r>
              <a:rPr lang="en-US" sz="1400" dirty="0">
                <a:solidFill>
                  <a:srgbClr val="0E2E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same Flows are callable from the booking UI today and from an Agentforce agent once licensing is enabled — no rework required.</a:t>
            </a:r>
            <a:endParaRPr lang="en-US" sz="1400" dirty="0"/>
          </a:p>
        </p:txBody>
      </p:sp>
      <p:sp>
        <p:nvSpPr>
          <p:cNvPr id="33" name="Text 26"/>
          <p:cNvSpPr/>
          <p:nvPr/>
        </p:nvSpPr>
        <p:spPr>
          <a:xfrm>
            <a:off x="548640" y="644652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B70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AI-Powered Appointment Management Assistant  ·  Salesforce Capstone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75488"/>
            <a:ext cx="585216" cy="585216"/>
          </a:xfrm>
          <a:prstGeom prst="ellipse">
            <a:avLst/>
          </a:prstGeom>
          <a:solidFill>
            <a:srgbClr val="028090"/>
          </a:solidFill>
          <a:ln/>
        </p:spPr>
        <p:txBody>
          <a:bodyPr/>
          <a:p/>
        </p:txBody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94944" y="621792"/>
            <a:ext cx="292608" cy="292608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335024" y="457200"/>
            <a:ext cx="1003096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E2E3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Data Model</a:t>
            </a:r>
            <a:endParaRPr lang="en-US" sz="3000" dirty="0"/>
          </a:p>
        </p:txBody>
      </p:sp>
      <p:sp>
        <p:nvSpPr>
          <p:cNvPr id="5" name="Text 2"/>
          <p:cNvSpPr/>
          <p:nvPr/>
        </p:nvSpPr>
        <p:spPr>
          <a:xfrm>
            <a:off x="11183112" y="502920"/>
            <a:ext cx="4572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5B70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300" dirty="0"/>
          </a:p>
        </p:txBody>
      </p:sp>
      <p:sp>
        <p:nvSpPr>
          <p:cNvPr id="6" name="Shape 3"/>
          <p:cNvSpPr/>
          <p:nvPr/>
        </p:nvSpPr>
        <p:spPr>
          <a:xfrm>
            <a:off x="548640" y="1261872"/>
            <a:ext cx="1005840" cy="0"/>
          </a:xfrm>
          <a:prstGeom prst="line">
            <a:avLst/>
          </a:prstGeom>
          <a:noFill/>
          <a:ln w="31750">
            <a:solidFill>
              <a:srgbClr val="02C39A"/>
            </a:solidFill>
            <a:prstDash val="solid"/>
          </a:ln>
        </p:spPr>
        <p:txBody>
          <a:bodyPr/>
          <a:p/>
        </p:txBody>
      </p:sp>
      <p:sp>
        <p:nvSpPr>
          <p:cNvPr id="7" name="Text 4"/>
          <p:cNvSpPr/>
          <p:nvPr/>
        </p:nvSpPr>
        <p:spPr>
          <a:xfrm>
            <a:off x="548640" y="1463040"/>
            <a:ext cx="10972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5B70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Custom Object:  </a:t>
            </a:r>
            <a:pPr algn="l" indent="0" marL="0">
              <a:buNone/>
            </a:pPr>
            <a:r>
              <a:rPr lang="en-US" sz="1500" b="1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Appointment</a:t>
            </a:r>
            <a:pPr algn="l" indent="0" marL="0">
              <a:buNone/>
            </a:pPr>
            <a:r>
              <a:rPr lang="en-US" sz="1500" dirty="0">
                <a:solidFill>
                  <a:srgbClr val="5B70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  Record Name = Auto Number  </a:t>
            </a:r>
            <a:pPr algn="l" indent="0" marL="0">
              <a:buNone/>
            </a:pPr>
            <a:r>
              <a:rPr lang="en-US" sz="1500" b="1" dirty="0">
                <a:solidFill>
                  <a:srgbClr val="0E2E3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APT-{00000}</a:t>
            </a:r>
            <a:endParaRPr lang="en-US" sz="1500" dirty="0"/>
          </a:p>
        </p:txBody>
      </p:sp>
      <p:sp>
        <p:nvSpPr>
          <p:cNvPr id="8" name="Shape 5"/>
          <p:cNvSpPr/>
          <p:nvPr/>
        </p:nvSpPr>
        <p:spPr>
          <a:xfrm>
            <a:off x="548640" y="2103120"/>
            <a:ext cx="11091672" cy="4133088"/>
          </a:xfrm>
          <a:prstGeom prst="roundRect">
            <a:avLst>
              <a:gd name="adj" fmla="val 2212"/>
            </a:avLst>
          </a:prstGeom>
          <a:solidFill>
            <a:srgbClr val="FFFFFF"/>
          </a:solidFill>
          <a:ln w="15875">
            <a:solidFill>
              <a:srgbClr val="D5E2E4"/>
            </a:solidFill>
            <a:prstDash val="solid"/>
          </a:ln>
          <a:effectLst>
            <a:outerShdw sx="100000" sy="100000" kx="0" ky="0" algn="bl" rotWithShape="0" blurRad="88900" dist="25400" dir="5400000">
              <a:srgbClr val="BCCBCD">
                <a:alpha val="50000"/>
              </a:srgbClr>
            </a:outerShdw>
          </a:effectLst>
        </p:spPr>
        <p:txBody>
          <a:bodyPr/>
          <a:p/>
        </p:txBody>
      </p:sp>
      <p:sp>
        <p:nvSpPr>
          <p:cNvPr id="9" name="Shape 6"/>
          <p:cNvSpPr/>
          <p:nvPr/>
        </p:nvSpPr>
        <p:spPr>
          <a:xfrm>
            <a:off x="868680" y="2455164"/>
            <a:ext cx="137160" cy="137160"/>
          </a:xfrm>
          <a:prstGeom prst="ellipse">
            <a:avLst/>
          </a:prstGeom>
          <a:solidFill>
            <a:srgbClr val="02C39A"/>
          </a:solidFill>
          <a:ln/>
        </p:spPr>
        <p:txBody>
          <a:bodyPr/>
          <a:p/>
        </p:txBody>
      </p:sp>
      <p:sp>
        <p:nvSpPr>
          <p:cNvPr id="10" name="Text 7"/>
          <p:cNvSpPr/>
          <p:nvPr/>
        </p:nvSpPr>
        <p:spPr>
          <a:xfrm>
            <a:off x="1234440" y="2194560"/>
            <a:ext cx="402336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0E2E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Appointment Number</a:t>
            </a:r>
            <a:endParaRPr lang="en-US" sz="1500" dirty="0"/>
          </a:p>
        </p:txBody>
      </p:sp>
      <p:sp>
        <p:nvSpPr>
          <p:cNvPr id="11" name="Text 8"/>
          <p:cNvSpPr/>
          <p:nvPr/>
        </p:nvSpPr>
        <p:spPr>
          <a:xfrm>
            <a:off x="5303520" y="2194560"/>
            <a:ext cx="62179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5B70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 Number — APT-{00000} (Record Name)</a:t>
            </a:r>
            <a:endParaRPr lang="en-US" sz="1350" dirty="0"/>
          </a:p>
        </p:txBody>
      </p:sp>
      <p:sp>
        <p:nvSpPr>
          <p:cNvPr id="12" name="Shape 9"/>
          <p:cNvSpPr/>
          <p:nvPr/>
        </p:nvSpPr>
        <p:spPr>
          <a:xfrm>
            <a:off x="594360" y="2852928"/>
            <a:ext cx="11000232" cy="658368"/>
          </a:xfrm>
          <a:prstGeom prst="rect">
            <a:avLst/>
          </a:prstGeom>
          <a:solidFill>
            <a:srgbClr val="F1F6F7"/>
          </a:solidFill>
          <a:ln/>
        </p:spPr>
        <p:txBody>
          <a:bodyPr/>
          <a:p/>
        </p:txBody>
      </p:sp>
      <p:sp>
        <p:nvSpPr>
          <p:cNvPr id="13" name="Shape 10"/>
          <p:cNvSpPr/>
          <p:nvPr/>
        </p:nvSpPr>
        <p:spPr>
          <a:xfrm>
            <a:off x="868680" y="3113532"/>
            <a:ext cx="137160" cy="137160"/>
          </a:xfrm>
          <a:prstGeom prst="ellipse">
            <a:avLst/>
          </a:prstGeom>
          <a:solidFill>
            <a:srgbClr val="02C39A"/>
          </a:solidFill>
          <a:ln/>
        </p:spPr>
        <p:txBody>
          <a:bodyPr/>
          <a:p/>
        </p:txBody>
      </p:sp>
      <p:sp>
        <p:nvSpPr>
          <p:cNvPr id="14" name="Text 11"/>
          <p:cNvSpPr/>
          <p:nvPr/>
        </p:nvSpPr>
        <p:spPr>
          <a:xfrm>
            <a:off x="1234440" y="2852928"/>
            <a:ext cx="402336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0E2E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Contact (Customer)</a:t>
            </a:r>
            <a:endParaRPr lang="en-US" sz="1500" dirty="0"/>
          </a:p>
        </p:txBody>
      </p:sp>
      <p:sp>
        <p:nvSpPr>
          <p:cNvPr id="15" name="Text 12"/>
          <p:cNvSpPr/>
          <p:nvPr/>
        </p:nvSpPr>
        <p:spPr>
          <a:xfrm>
            <a:off x="5303520" y="2852928"/>
            <a:ext cx="62179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5B70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Lookup  →  Contact</a:t>
            </a:r>
            <a:endParaRPr lang="en-US" sz="1350" dirty="0"/>
          </a:p>
        </p:txBody>
      </p:sp>
      <p:sp>
        <p:nvSpPr>
          <p:cNvPr id="16" name="Shape 13"/>
          <p:cNvSpPr/>
          <p:nvPr/>
        </p:nvSpPr>
        <p:spPr>
          <a:xfrm>
            <a:off x="868680" y="3771900"/>
            <a:ext cx="137160" cy="137160"/>
          </a:xfrm>
          <a:prstGeom prst="ellipse">
            <a:avLst/>
          </a:prstGeom>
          <a:solidFill>
            <a:srgbClr val="02C39A"/>
          </a:solidFill>
          <a:ln/>
        </p:spPr>
        <p:txBody>
          <a:bodyPr/>
          <a:p/>
        </p:txBody>
      </p:sp>
      <p:sp>
        <p:nvSpPr>
          <p:cNvPr id="17" name="Text 14"/>
          <p:cNvSpPr/>
          <p:nvPr/>
        </p:nvSpPr>
        <p:spPr>
          <a:xfrm>
            <a:off x="1234440" y="3511296"/>
            <a:ext cx="402336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0E2E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Appointment Date/Time</a:t>
            </a:r>
            <a:endParaRPr lang="en-US" sz="1500" dirty="0"/>
          </a:p>
        </p:txBody>
      </p:sp>
      <p:sp>
        <p:nvSpPr>
          <p:cNvPr id="18" name="Text 15"/>
          <p:cNvSpPr/>
          <p:nvPr/>
        </p:nvSpPr>
        <p:spPr>
          <a:xfrm>
            <a:off x="5303520" y="3511296"/>
            <a:ext cx="62179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5B70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Date/Time</a:t>
            </a:r>
            <a:endParaRPr lang="en-US" sz="1350" dirty="0"/>
          </a:p>
        </p:txBody>
      </p:sp>
      <p:sp>
        <p:nvSpPr>
          <p:cNvPr id="19" name="Shape 16"/>
          <p:cNvSpPr/>
          <p:nvPr/>
        </p:nvSpPr>
        <p:spPr>
          <a:xfrm>
            <a:off x="594360" y="4169664"/>
            <a:ext cx="11000232" cy="658368"/>
          </a:xfrm>
          <a:prstGeom prst="rect">
            <a:avLst/>
          </a:prstGeom>
          <a:solidFill>
            <a:srgbClr val="F1F6F7"/>
          </a:solidFill>
          <a:ln/>
        </p:spPr>
        <p:txBody>
          <a:bodyPr/>
          <a:p/>
        </p:txBody>
      </p:sp>
      <p:sp>
        <p:nvSpPr>
          <p:cNvPr id="20" name="Shape 17"/>
          <p:cNvSpPr/>
          <p:nvPr/>
        </p:nvSpPr>
        <p:spPr>
          <a:xfrm>
            <a:off x="868680" y="4430268"/>
            <a:ext cx="137160" cy="137160"/>
          </a:xfrm>
          <a:prstGeom prst="ellipse">
            <a:avLst/>
          </a:prstGeom>
          <a:solidFill>
            <a:srgbClr val="02C39A"/>
          </a:solidFill>
          <a:ln/>
        </p:spPr>
        <p:txBody>
          <a:bodyPr/>
          <a:p/>
        </p:txBody>
      </p:sp>
      <p:sp>
        <p:nvSpPr>
          <p:cNvPr id="21" name="Text 18"/>
          <p:cNvSpPr/>
          <p:nvPr/>
        </p:nvSpPr>
        <p:spPr>
          <a:xfrm>
            <a:off x="1234440" y="4169664"/>
            <a:ext cx="402336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0E2E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Status</a:t>
            </a:r>
            <a:endParaRPr lang="en-US" sz="1500" dirty="0"/>
          </a:p>
        </p:txBody>
      </p:sp>
      <p:sp>
        <p:nvSpPr>
          <p:cNvPr id="22" name="Text 19"/>
          <p:cNvSpPr/>
          <p:nvPr/>
        </p:nvSpPr>
        <p:spPr>
          <a:xfrm>
            <a:off x="5303520" y="4169664"/>
            <a:ext cx="62179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5B70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Picklist — Scheduled · Rescheduled · Completed · Cancelled</a:t>
            </a:r>
            <a:endParaRPr lang="en-US" sz="1350" dirty="0"/>
          </a:p>
        </p:txBody>
      </p:sp>
      <p:sp>
        <p:nvSpPr>
          <p:cNvPr id="23" name="Shape 20"/>
          <p:cNvSpPr/>
          <p:nvPr/>
        </p:nvSpPr>
        <p:spPr>
          <a:xfrm>
            <a:off x="868680" y="5088636"/>
            <a:ext cx="137160" cy="137160"/>
          </a:xfrm>
          <a:prstGeom prst="ellipse">
            <a:avLst/>
          </a:prstGeom>
          <a:solidFill>
            <a:srgbClr val="02C39A"/>
          </a:solidFill>
          <a:ln/>
        </p:spPr>
        <p:txBody>
          <a:bodyPr/>
          <a:p/>
        </p:txBody>
      </p:sp>
      <p:sp>
        <p:nvSpPr>
          <p:cNvPr id="24" name="Text 21"/>
          <p:cNvSpPr/>
          <p:nvPr/>
        </p:nvSpPr>
        <p:spPr>
          <a:xfrm>
            <a:off x="1234440" y="4828032"/>
            <a:ext cx="402336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0E2E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Service Type</a:t>
            </a:r>
            <a:endParaRPr lang="en-US" sz="1500" dirty="0"/>
          </a:p>
        </p:txBody>
      </p:sp>
      <p:sp>
        <p:nvSpPr>
          <p:cNvPr id="25" name="Text 22"/>
          <p:cNvSpPr/>
          <p:nvPr/>
        </p:nvSpPr>
        <p:spPr>
          <a:xfrm>
            <a:off x="5303520" y="4828032"/>
            <a:ext cx="62179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5B70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Picklist — Consultation · Follow-up · Support · Other</a:t>
            </a:r>
            <a:endParaRPr lang="en-US" sz="1350" dirty="0"/>
          </a:p>
        </p:txBody>
      </p:sp>
      <p:sp>
        <p:nvSpPr>
          <p:cNvPr id="26" name="Shape 23"/>
          <p:cNvSpPr/>
          <p:nvPr/>
        </p:nvSpPr>
        <p:spPr>
          <a:xfrm>
            <a:off x="594360" y="5486400"/>
            <a:ext cx="11000232" cy="658368"/>
          </a:xfrm>
          <a:prstGeom prst="rect">
            <a:avLst/>
          </a:prstGeom>
          <a:solidFill>
            <a:srgbClr val="F1F6F7"/>
          </a:solidFill>
          <a:ln/>
        </p:spPr>
        <p:txBody>
          <a:bodyPr/>
          <a:p/>
        </p:txBody>
      </p:sp>
      <p:sp>
        <p:nvSpPr>
          <p:cNvPr id="27" name="Shape 24"/>
          <p:cNvSpPr/>
          <p:nvPr/>
        </p:nvSpPr>
        <p:spPr>
          <a:xfrm>
            <a:off x="868680" y="5747004"/>
            <a:ext cx="137160" cy="137160"/>
          </a:xfrm>
          <a:prstGeom prst="ellipse">
            <a:avLst/>
          </a:prstGeom>
          <a:solidFill>
            <a:srgbClr val="02C39A"/>
          </a:solidFill>
          <a:ln/>
        </p:spPr>
        <p:txBody>
          <a:bodyPr/>
          <a:p/>
        </p:txBody>
      </p:sp>
      <p:sp>
        <p:nvSpPr>
          <p:cNvPr id="28" name="Text 25"/>
          <p:cNvSpPr/>
          <p:nvPr/>
        </p:nvSpPr>
        <p:spPr>
          <a:xfrm>
            <a:off x="1234440" y="5486400"/>
            <a:ext cx="402336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0E2E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Notes</a:t>
            </a:r>
            <a:endParaRPr lang="en-US" sz="1500" dirty="0"/>
          </a:p>
        </p:txBody>
      </p:sp>
      <p:sp>
        <p:nvSpPr>
          <p:cNvPr id="29" name="Text 26"/>
          <p:cNvSpPr/>
          <p:nvPr/>
        </p:nvSpPr>
        <p:spPr>
          <a:xfrm>
            <a:off x="5303520" y="5486400"/>
            <a:ext cx="62179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5B70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Long Text Area</a:t>
            </a:r>
            <a:endParaRPr lang="en-US" sz="1350" dirty="0"/>
          </a:p>
        </p:txBody>
      </p:sp>
      <p:sp>
        <p:nvSpPr>
          <p:cNvPr id="30" name="Text 27"/>
          <p:cNvSpPr/>
          <p:nvPr/>
        </p:nvSpPr>
        <p:spPr>
          <a:xfrm>
            <a:off x="548640" y="644652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B70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AI-Powered Appointment Management Assistant  ·  Salesforce Capstone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75488"/>
            <a:ext cx="585216" cy="585216"/>
          </a:xfrm>
          <a:prstGeom prst="ellipse">
            <a:avLst/>
          </a:prstGeom>
          <a:solidFill>
            <a:srgbClr val="028090"/>
          </a:solidFill>
          <a:ln/>
        </p:spPr>
        <p:txBody>
          <a:bodyPr/>
          <a:p/>
        </p:txBody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94944" y="621792"/>
            <a:ext cx="292608" cy="292608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335024" y="457200"/>
            <a:ext cx="1003096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E2E3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Automation — Three Autolaunched Flows</a:t>
            </a:r>
            <a:endParaRPr lang="en-US" sz="3000" dirty="0"/>
          </a:p>
        </p:txBody>
      </p:sp>
      <p:sp>
        <p:nvSpPr>
          <p:cNvPr id="5" name="Text 2"/>
          <p:cNvSpPr/>
          <p:nvPr/>
        </p:nvSpPr>
        <p:spPr>
          <a:xfrm>
            <a:off x="11183112" y="502920"/>
            <a:ext cx="4572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5B70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300" dirty="0"/>
          </a:p>
        </p:txBody>
      </p:sp>
      <p:sp>
        <p:nvSpPr>
          <p:cNvPr id="6" name="Shape 3"/>
          <p:cNvSpPr/>
          <p:nvPr/>
        </p:nvSpPr>
        <p:spPr>
          <a:xfrm>
            <a:off x="548640" y="1261872"/>
            <a:ext cx="1005840" cy="0"/>
          </a:xfrm>
          <a:prstGeom prst="line">
            <a:avLst/>
          </a:prstGeom>
          <a:noFill/>
          <a:ln w="31750">
            <a:solidFill>
              <a:srgbClr val="02C39A"/>
            </a:solidFill>
            <a:prstDash val="solid"/>
          </a:ln>
        </p:spPr>
        <p:txBody>
          <a:bodyPr/>
          <a:p/>
        </p:txBody>
      </p:sp>
      <p:sp>
        <p:nvSpPr>
          <p:cNvPr id="7" name="Shape 4"/>
          <p:cNvSpPr/>
          <p:nvPr/>
        </p:nvSpPr>
        <p:spPr>
          <a:xfrm>
            <a:off x="548640" y="1554480"/>
            <a:ext cx="3529584" cy="3291840"/>
          </a:xfrm>
          <a:prstGeom prst="roundRect">
            <a:avLst>
              <a:gd name="adj" fmla="val 3333"/>
            </a:avLst>
          </a:prstGeom>
          <a:solidFill>
            <a:srgbClr val="FFFFFF"/>
          </a:solidFill>
          <a:ln w="15875">
            <a:solidFill>
              <a:srgbClr val="D5E2E4"/>
            </a:solidFill>
            <a:prstDash val="solid"/>
          </a:ln>
          <a:effectLst>
            <a:outerShdw sx="100000" sy="100000" kx="0" ky="0" algn="bl" rotWithShape="0" blurRad="88900" dist="25400" dir="5400000">
              <a:srgbClr val="BCCBCD">
                <a:alpha val="50000"/>
              </a:srgbClr>
            </a:outerShdw>
          </a:effectLst>
        </p:spPr>
        <p:txBody>
          <a:bodyPr/>
          <a:p/>
        </p:txBody>
      </p:sp>
      <p:sp>
        <p:nvSpPr>
          <p:cNvPr id="8" name="Shape 5"/>
          <p:cNvSpPr/>
          <p:nvPr/>
        </p:nvSpPr>
        <p:spPr>
          <a:xfrm>
            <a:off x="548640" y="1554480"/>
            <a:ext cx="3529584" cy="128016"/>
          </a:xfrm>
          <a:prstGeom prst="roundRect">
            <a:avLst>
              <a:gd name="adj" fmla="val 42857"/>
            </a:avLst>
          </a:prstGeom>
          <a:solidFill>
            <a:srgbClr val="028090"/>
          </a:solidFill>
          <a:ln/>
        </p:spPr>
        <p:txBody>
          <a:bodyPr/>
          <a:p/>
        </p:txBody>
      </p:sp>
      <p:sp>
        <p:nvSpPr>
          <p:cNvPr id="9" name="Shape 6"/>
          <p:cNvSpPr/>
          <p:nvPr/>
        </p:nvSpPr>
        <p:spPr>
          <a:xfrm>
            <a:off x="1810512" y="1938528"/>
            <a:ext cx="1005840" cy="1005840"/>
          </a:xfrm>
          <a:prstGeom prst="ellipse">
            <a:avLst/>
          </a:prstGeom>
          <a:solidFill>
            <a:srgbClr val="028090"/>
          </a:solidFill>
          <a:ln/>
        </p:spPr>
        <p:txBody>
          <a:bodyPr/>
          <a:p/>
        </p:txBody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39112" y="2167128"/>
            <a:ext cx="548640" cy="548640"/>
          </a:xfrm>
          <a:prstGeom prst="rect">
            <a:avLst/>
          </a:prstGeom>
        </p:spPr>
      </p:pic>
      <p:sp>
        <p:nvSpPr>
          <p:cNvPr id="11" name="Text 7"/>
          <p:cNvSpPr/>
          <p:nvPr/>
        </p:nvSpPr>
        <p:spPr>
          <a:xfrm>
            <a:off x="685800" y="3063240"/>
            <a:ext cx="3255264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50" b="1" dirty="0">
                <a:solidFill>
                  <a:srgbClr val="0E2E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Create Appointment</a:t>
            </a:r>
            <a:endParaRPr lang="en-US" sz="1650" dirty="0"/>
          </a:p>
        </p:txBody>
      </p:sp>
      <p:sp>
        <p:nvSpPr>
          <p:cNvPr id="12" name="Text 8"/>
          <p:cNvSpPr/>
          <p:nvPr/>
        </p:nvSpPr>
        <p:spPr>
          <a:xfrm>
            <a:off x="822960" y="3566160"/>
            <a:ext cx="2980944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5B70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Inputs: Contact Id,</a:t>
            </a:r>
            <a:endParaRPr lang="en-US" sz="125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5B70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Date/Time, Service Type</a:t>
            </a:r>
            <a:endParaRPr lang="en-US" sz="1250" dirty="0"/>
          </a:p>
          <a:p>
            <a:pPr algn="ctr" indent="0" marL="0">
              <a:lnSpc>
                <a:spcPct val="105000"/>
              </a:lnSpc>
              <a:buNone/>
            </a:pPr>
            <a:endParaRPr lang="en-US" sz="125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5B70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Creates a record and</a:t>
            </a:r>
            <a:endParaRPr lang="en-US" sz="125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5B70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returns the Appointment Id</a:t>
            </a:r>
            <a:endParaRPr lang="en-US" sz="1250" dirty="0"/>
          </a:p>
        </p:txBody>
      </p:sp>
      <p:sp>
        <p:nvSpPr>
          <p:cNvPr id="13" name="Shape 9"/>
          <p:cNvSpPr/>
          <p:nvPr/>
        </p:nvSpPr>
        <p:spPr>
          <a:xfrm>
            <a:off x="4325112" y="1554480"/>
            <a:ext cx="3529584" cy="3291840"/>
          </a:xfrm>
          <a:prstGeom prst="roundRect">
            <a:avLst>
              <a:gd name="adj" fmla="val 3333"/>
            </a:avLst>
          </a:prstGeom>
          <a:solidFill>
            <a:srgbClr val="FFFFFF"/>
          </a:solidFill>
          <a:ln w="15875">
            <a:solidFill>
              <a:srgbClr val="D5E2E4"/>
            </a:solidFill>
            <a:prstDash val="solid"/>
          </a:ln>
          <a:effectLst>
            <a:outerShdw sx="100000" sy="100000" kx="0" ky="0" algn="bl" rotWithShape="0" blurRad="88900" dist="25400" dir="5400000">
              <a:srgbClr val="BCCBCD">
                <a:alpha val="50000"/>
              </a:srgbClr>
            </a:outerShdw>
          </a:effectLst>
        </p:spPr>
        <p:txBody>
          <a:bodyPr/>
          <a:p/>
        </p:txBody>
      </p:sp>
      <p:sp>
        <p:nvSpPr>
          <p:cNvPr id="14" name="Shape 10"/>
          <p:cNvSpPr/>
          <p:nvPr/>
        </p:nvSpPr>
        <p:spPr>
          <a:xfrm>
            <a:off x="4325112" y="1554480"/>
            <a:ext cx="3529584" cy="128016"/>
          </a:xfrm>
          <a:prstGeom prst="roundRect">
            <a:avLst>
              <a:gd name="adj" fmla="val 42857"/>
            </a:avLst>
          </a:prstGeom>
          <a:solidFill>
            <a:srgbClr val="00A896"/>
          </a:solidFill>
          <a:ln/>
        </p:spPr>
        <p:txBody>
          <a:bodyPr/>
          <a:p/>
        </p:txBody>
      </p:sp>
      <p:sp>
        <p:nvSpPr>
          <p:cNvPr id="15" name="Shape 11"/>
          <p:cNvSpPr/>
          <p:nvPr/>
        </p:nvSpPr>
        <p:spPr>
          <a:xfrm>
            <a:off x="5586984" y="1938528"/>
            <a:ext cx="1005840" cy="1005840"/>
          </a:xfrm>
          <a:prstGeom prst="ellipse">
            <a:avLst/>
          </a:prstGeom>
          <a:solidFill>
            <a:srgbClr val="00A896"/>
          </a:solidFill>
          <a:ln/>
        </p:spPr>
        <p:txBody>
          <a:bodyPr/>
          <a:p/>
        </p:txBody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15584" y="2167128"/>
            <a:ext cx="548640" cy="548640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4462272" y="3063240"/>
            <a:ext cx="3255264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50" b="1" dirty="0">
                <a:solidFill>
                  <a:srgbClr val="0E2E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Reschedule Appointment</a:t>
            </a:r>
            <a:endParaRPr lang="en-US" sz="1650" dirty="0"/>
          </a:p>
        </p:txBody>
      </p:sp>
      <p:sp>
        <p:nvSpPr>
          <p:cNvPr id="18" name="Text 13"/>
          <p:cNvSpPr/>
          <p:nvPr/>
        </p:nvSpPr>
        <p:spPr>
          <a:xfrm>
            <a:off x="4599432" y="3566160"/>
            <a:ext cx="2980944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5B70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Inputs: Appointment Id,</a:t>
            </a:r>
            <a:endParaRPr lang="en-US" sz="125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5B70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New Date/Time</a:t>
            </a:r>
            <a:endParaRPr lang="en-US" sz="1250" dirty="0"/>
          </a:p>
          <a:p>
            <a:pPr algn="ctr" indent="0" marL="0">
              <a:lnSpc>
                <a:spcPct val="105000"/>
              </a:lnSpc>
              <a:buNone/>
            </a:pPr>
            <a:endParaRPr lang="en-US" sz="125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5B70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Updates the date and sets</a:t>
            </a:r>
            <a:endParaRPr lang="en-US" sz="125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5B70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Status = Rescheduled</a:t>
            </a:r>
            <a:endParaRPr lang="en-US" sz="1250" dirty="0"/>
          </a:p>
        </p:txBody>
      </p:sp>
      <p:sp>
        <p:nvSpPr>
          <p:cNvPr id="19" name="Shape 14"/>
          <p:cNvSpPr/>
          <p:nvPr/>
        </p:nvSpPr>
        <p:spPr>
          <a:xfrm>
            <a:off x="8101584" y="1554480"/>
            <a:ext cx="3529584" cy="3291840"/>
          </a:xfrm>
          <a:prstGeom prst="roundRect">
            <a:avLst>
              <a:gd name="adj" fmla="val 3333"/>
            </a:avLst>
          </a:prstGeom>
          <a:solidFill>
            <a:srgbClr val="FFFFFF"/>
          </a:solidFill>
          <a:ln w="15875">
            <a:solidFill>
              <a:srgbClr val="D5E2E4"/>
            </a:solidFill>
            <a:prstDash val="solid"/>
          </a:ln>
          <a:effectLst>
            <a:outerShdw sx="100000" sy="100000" kx="0" ky="0" algn="bl" rotWithShape="0" blurRad="88900" dist="25400" dir="5400000">
              <a:srgbClr val="BCCBCD">
                <a:alpha val="50000"/>
              </a:srgbClr>
            </a:outerShdw>
          </a:effectLst>
        </p:spPr>
        <p:txBody>
          <a:bodyPr/>
          <a:p/>
        </p:txBody>
      </p:sp>
      <p:sp>
        <p:nvSpPr>
          <p:cNvPr id="20" name="Shape 15"/>
          <p:cNvSpPr/>
          <p:nvPr/>
        </p:nvSpPr>
        <p:spPr>
          <a:xfrm>
            <a:off x="8101584" y="1554480"/>
            <a:ext cx="3529584" cy="128016"/>
          </a:xfrm>
          <a:prstGeom prst="roundRect">
            <a:avLst>
              <a:gd name="adj" fmla="val 42857"/>
            </a:avLst>
          </a:prstGeom>
          <a:solidFill>
            <a:srgbClr val="028090"/>
          </a:solidFill>
          <a:ln/>
        </p:spPr>
        <p:txBody>
          <a:bodyPr/>
          <a:p/>
        </p:txBody>
      </p:sp>
      <p:sp>
        <p:nvSpPr>
          <p:cNvPr id="21" name="Shape 16"/>
          <p:cNvSpPr/>
          <p:nvPr/>
        </p:nvSpPr>
        <p:spPr>
          <a:xfrm>
            <a:off x="9363456" y="1938528"/>
            <a:ext cx="1005840" cy="1005840"/>
          </a:xfrm>
          <a:prstGeom prst="ellipse">
            <a:avLst/>
          </a:prstGeom>
          <a:solidFill>
            <a:srgbClr val="028090"/>
          </a:solidFill>
          <a:ln/>
        </p:spPr>
        <p:txBody>
          <a:bodyPr/>
          <a:p/>
        </p:txBody>
      </p:sp>
      <p:pic>
        <p:nvPicPr>
          <p:cNvPr id="22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592056" y="2167128"/>
            <a:ext cx="548640" cy="548640"/>
          </a:xfrm>
          <a:prstGeom prst="rect">
            <a:avLst/>
          </a:prstGeom>
        </p:spPr>
      </p:pic>
      <p:sp>
        <p:nvSpPr>
          <p:cNvPr id="23" name="Text 17"/>
          <p:cNvSpPr/>
          <p:nvPr/>
        </p:nvSpPr>
        <p:spPr>
          <a:xfrm>
            <a:off x="8238744" y="3063240"/>
            <a:ext cx="3255264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50" b="1" dirty="0">
                <a:solidFill>
                  <a:srgbClr val="0E2E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Cancel Appointment</a:t>
            </a:r>
            <a:endParaRPr lang="en-US" sz="1650" dirty="0"/>
          </a:p>
        </p:txBody>
      </p:sp>
      <p:sp>
        <p:nvSpPr>
          <p:cNvPr id="24" name="Text 18"/>
          <p:cNvSpPr/>
          <p:nvPr/>
        </p:nvSpPr>
        <p:spPr>
          <a:xfrm>
            <a:off x="8375904" y="3566160"/>
            <a:ext cx="2980944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5B70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Input: Appointment Id</a:t>
            </a:r>
            <a:endParaRPr lang="en-US" sz="1250" dirty="0"/>
          </a:p>
          <a:p>
            <a:pPr algn="ctr" indent="0" marL="0">
              <a:lnSpc>
                <a:spcPct val="105000"/>
              </a:lnSpc>
              <a:buNone/>
            </a:pPr>
            <a:endParaRPr lang="en-US" sz="1250" dirty="0"/>
          </a:p>
          <a:p>
            <a:pPr algn="ctr" indent="0" marL="0">
              <a:lnSpc>
                <a:spcPct val="105000"/>
              </a:lnSpc>
              <a:buNone/>
            </a:pPr>
            <a:endParaRPr lang="en-US" sz="125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5B70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Updates the record and sets</a:t>
            </a:r>
            <a:endParaRPr lang="en-US" sz="125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5B70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Status = Cancelled</a:t>
            </a:r>
            <a:endParaRPr lang="en-US" sz="1250" dirty="0"/>
          </a:p>
        </p:txBody>
      </p:sp>
      <p:sp>
        <p:nvSpPr>
          <p:cNvPr id="25" name="Shape 19"/>
          <p:cNvSpPr/>
          <p:nvPr/>
        </p:nvSpPr>
        <p:spPr>
          <a:xfrm>
            <a:off x="548640" y="5074920"/>
            <a:ext cx="11091672" cy="822960"/>
          </a:xfrm>
          <a:prstGeom prst="roundRect">
            <a:avLst>
              <a:gd name="adj" fmla="val 11111"/>
            </a:avLst>
          </a:prstGeom>
          <a:solidFill>
            <a:srgbClr val="F1F6F7"/>
          </a:solidFill>
          <a:ln/>
        </p:spPr>
        <p:txBody>
          <a:bodyPr/>
          <a:p/>
        </p:txBody>
      </p:sp>
      <p:sp>
        <p:nvSpPr>
          <p:cNvPr id="26" name="Text 20"/>
          <p:cNvSpPr/>
          <p:nvPr/>
        </p:nvSpPr>
        <p:spPr>
          <a:xfrm>
            <a:off x="777240" y="5074920"/>
            <a:ext cx="106070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three Flows are Active and reusable  —  </a:t>
            </a:r>
            <a:pPr algn="l" indent="0" marL="0">
              <a:buNone/>
            </a:pPr>
            <a:r>
              <a:rPr lang="en-US" sz="1400" dirty="0">
                <a:solidFill>
                  <a:srgbClr val="0E2E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callable from the booking UI today and from a future AI agent.</a:t>
            </a:r>
            <a:endParaRPr lang="en-US" sz="1400" dirty="0"/>
          </a:p>
        </p:txBody>
      </p:sp>
      <p:sp>
        <p:nvSpPr>
          <p:cNvPr id="27" name="Text 21"/>
          <p:cNvSpPr/>
          <p:nvPr/>
        </p:nvSpPr>
        <p:spPr>
          <a:xfrm>
            <a:off x="548640" y="644652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B70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AI-Powered Appointment Management Assistant  ·  Salesforce Capstone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Shape 0"/>
          <p:cNvSpPr/>
          <p:nvPr/>
        </p:nvSpPr>
        <p:spPr>
          <a:xfrm>
            <a:off x="548640" y="475488"/>
            <a:ext cx="585216" cy="585216"/>
          </a:xfrm>
          <a:prstGeom prst="ellipse">
            <a:avLst/>
          </a:prstGeom>
          <a:solidFill>
            <a:srgbClr val="028090"/>
          </a:solidFill>
          <a:ln/>
        </p:spPr>
        <p:txBody>
          <a:bodyPr/>
          <a:p/>
        </p:txBody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4944" y="621792"/>
            <a:ext cx="292608" cy="292608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335024" y="457200"/>
            <a:ext cx="1003096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E2E3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Invocable Apex Action — the Agent Bridge</a:t>
            </a:r>
            <a:endParaRPr lang="en-US" sz="3000" dirty="0"/>
          </a:p>
        </p:txBody>
      </p:sp>
      <p:sp>
        <p:nvSpPr>
          <p:cNvPr id="5" name="Text 2"/>
          <p:cNvSpPr/>
          <p:nvPr/>
        </p:nvSpPr>
        <p:spPr>
          <a:xfrm>
            <a:off x="11183112" y="502920"/>
            <a:ext cx="4572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5B70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1300" dirty="0"/>
          </a:p>
        </p:txBody>
      </p:sp>
      <p:sp>
        <p:nvSpPr>
          <p:cNvPr id="6" name="Shape 3"/>
          <p:cNvSpPr/>
          <p:nvPr/>
        </p:nvSpPr>
        <p:spPr>
          <a:xfrm>
            <a:off x="548640" y="1261872"/>
            <a:ext cx="1005840" cy="0"/>
          </a:xfrm>
          <a:prstGeom prst="line">
            <a:avLst/>
          </a:prstGeom>
          <a:noFill/>
          <a:ln w="31750">
            <a:solidFill>
              <a:srgbClr val="02C39A"/>
            </a:solidFill>
            <a:prstDash val="solid"/>
          </a:ln>
        </p:spPr>
        <p:txBody>
          <a:bodyPr/>
          <a:p/>
        </p:txBody>
      </p:sp>
      <p:sp>
        <p:nvSpPr>
          <p:cNvPr id="7" name="Text 4"/>
          <p:cNvSpPr/>
          <p:nvPr/>
        </p:nvSpPr>
        <p:spPr>
          <a:xfrm>
            <a:off x="548640" y="1417320"/>
            <a:ext cx="110642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5B70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@InvocableMethod appears in both the Flow palette and the Agentforce action library — so the agent and the user interface share one implementation, with no wrapper in between.</a:t>
            </a:r>
            <a:endParaRPr lang="en-US" sz="1400" dirty="0"/>
          </a:p>
        </p:txBody>
      </p:sp>
      <p:sp>
        <p:nvSpPr>
          <p:cNvPr id="8" name="Shape 5"/>
          <p:cNvSpPr/>
          <p:nvPr/>
        </p:nvSpPr>
        <p:spPr>
          <a:xfrm>
            <a:off x="548640" y="2194560"/>
            <a:ext cx="5362956" cy="3566160"/>
          </a:xfrm>
          <a:prstGeom prst="roundRect">
            <a:avLst>
              <a:gd name="adj" fmla="val 3077"/>
            </a:avLst>
          </a:prstGeom>
          <a:solidFill>
            <a:srgbClr val="FFFFFF"/>
          </a:solidFill>
          <a:ln w="15875">
            <a:solidFill>
              <a:srgbClr val="D5E2E4"/>
            </a:solidFill>
            <a:prstDash val="solid"/>
          </a:ln>
        </p:spPr>
        <p:txBody>
          <a:bodyPr/>
          <a:p/>
        </p:txBody>
      </p:sp>
      <p:sp>
        <p:nvSpPr>
          <p:cNvPr id="9" name="Shape 6"/>
          <p:cNvSpPr/>
          <p:nvPr/>
        </p:nvSpPr>
        <p:spPr>
          <a:xfrm>
            <a:off x="548640" y="2194560"/>
            <a:ext cx="5362956" cy="640080"/>
          </a:xfrm>
          <a:prstGeom prst="roundRect">
            <a:avLst>
              <a:gd name="adj" fmla="val 17143"/>
            </a:avLst>
          </a:prstGeom>
          <a:solidFill>
            <a:srgbClr val="E0A02F"/>
          </a:solidFill>
          <a:ln/>
        </p:spPr>
        <p:txBody>
          <a:bodyPr/>
          <a:p/>
        </p:txBody>
      </p:sp>
      <p:sp>
        <p:nvSpPr>
          <p:cNvPr id="10" name="Text 7"/>
          <p:cNvSpPr/>
          <p:nvPr/>
        </p:nvSpPr>
        <p:spPr>
          <a:xfrm>
            <a:off x="822960" y="2194560"/>
            <a:ext cx="4814316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Four Operations</a:t>
            </a:r>
            <a:endParaRPr lang="en-US" sz="1600" dirty="0"/>
          </a:p>
        </p:txBody>
      </p:sp>
      <p:sp>
        <p:nvSpPr>
          <p:cNvPr id="11" name="Text 8"/>
          <p:cNvSpPr/>
          <p:nvPr/>
        </p:nvSpPr>
        <p:spPr>
          <a:xfrm>
            <a:off x="822960" y="3063240"/>
            <a:ext cx="4814316" cy="2560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marL="203200" indent="-203200">
              <a:spcAft>
                <a:spcPts val="1200"/>
              </a:spcAft>
              <a:buSzPct val="100000"/>
              <a:buChar char="•"/>
            </a:pPr>
            <a:r>
              <a:rPr lang="en-US" sz="1400" dirty="0">
                <a:solidFill>
                  <a:srgbClr val="0E2E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create — validates the inputs, then inserts it as Scheduled.</a:t>
            </a:r>
            <a:endParaRPr lang="en-US" sz="1400" dirty="0"/>
          </a:p>
          <a:p>
            <a:pPr algn="l" marL="203200" indent="-203200">
              <a:spcAft>
                <a:spcPts val="1200"/>
              </a:spcAft>
              <a:buSzPct val="100000"/>
              <a:buChar char="•"/>
            </a:pPr>
            <a:r>
              <a:rPr lang="en-US" sz="1400" dirty="0">
                <a:solidFill>
                  <a:srgbClr val="0E2E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reschedule — moves it and sets Status = Rescheduled.</a:t>
            </a:r>
            <a:endParaRPr lang="en-US" sz="1400" dirty="0"/>
          </a:p>
          <a:p>
            <a:pPr algn="l" marL="203200" indent="-203200">
              <a:spcAft>
                <a:spcPts val="1200"/>
              </a:spcAft>
              <a:buSzPct val="100000"/>
              <a:buChar char="•"/>
            </a:pPr>
            <a:r>
              <a:rPr lang="en-US" sz="1400" dirty="0">
                <a:solidFill>
                  <a:srgbClr val="0E2E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cancel — sets Status = Cancelled; the record is kept.</a:t>
            </a:r>
            <a:endParaRPr lang="en-US" sz="1400" dirty="0"/>
          </a:p>
          <a:p>
            <a:pPr algn="l" marL="203200" indent="-203200">
              <a:buSzPct val="100000"/>
              <a:buChar char="•"/>
            </a:pPr>
            <a:r>
              <a:rPr lang="en-US" sz="1400" dirty="0">
                <a:solidFill>
                  <a:srgbClr val="0E2E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 — reads the customer’s real appointments back.</a:t>
            </a:r>
            <a:endParaRPr lang="en-US" sz="1400" dirty="0"/>
          </a:p>
        </p:txBody>
      </p:sp>
      <p:sp>
        <p:nvSpPr>
          <p:cNvPr id="12" name="Shape 9"/>
          <p:cNvSpPr/>
          <p:nvPr/>
        </p:nvSpPr>
        <p:spPr>
          <a:xfrm>
            <a:off x="6277356" y="2194560"/>
            <a:ext cx="5362956" cy="3566160"/>
          </a:xfrm>
          <a:prstGeom prst="roundRect">
            <a:avLst>
              <a:gd name="adj" fmla="val 3077"/>
            </a:avLst>
          </a:prstGeom>
          <a:solidFill>
            <a:srgbClr val="FFFFFF"/>
          </a:solidFill>
          <a:ln w="15875">
            <a:solidFill>
              <a:srgbClr val="D5E2E4"/>
            </a:solidFill>
            <a:prstDash val="solid"/>
          </a:ln>
        </p:spPr>
        <p:txBody>
          <a:bodyPr/>
          <a:p/>
        </p:txBody>
      </p:sp>
      <p:sp>
        <p:nvSpPr>
          <p:cNvPr id="13" name="Shape 10"/>
          <p:cNvSpPr/>
          <p:nvPr/>
        </p:nvSpPr>
        <p:spPr>
          <a:xfrm>
            <a:off x="6277356" y="2194560"/>
            <a:ext cx="5362956" cy="640080"/>
          </a:xfrm>
          <a:prstGeom prst="roundRect">
            <a:avLst>
              <a:gd name="adj" fmla="val 17143"/>
            </a:avLst>
          </a:prstGeom>
          <a:solidFill>
            <a:srgbClr val="00A896"/>
          </a:solidFill>
          <a:ln/>
        </p:spPr>
        <p:txBody>
          <a:bodyPr/>
          <a:p/>
        </p:txBody>
      </p:sp>
      <p:sp>
        <p:nvSpPr>
          <p:cNvPr id="14" name="Text 11"/>
          <p:cNvSpPr/>
          <p:nvPr/>
        </p:nvSpPr>
        <p:spPr>
          <a:xfrm>
            <a:off x="6551676" y="2194560"/>
            <a:ext cx="4814316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Safe to Hand an Agent</a:t>
            </a:r>
            <a:endParaRPr lang="en-US" sz="1600" dirty="0"/>
          </a:p>
        </p:txBody>
      </p:sp>
      <p:sp>
        <p:nvSpPr>
          <p:cNvPr id="15" name="Text 12"/>
          <p:cNvSpPr/>
          <p:nvPr/>
        </p:nvSpPr>
        <p:spPr>
          <a:xfrm>
            <a:off x="6551676" y="3063240"/>
            <a:ext cx="4814316" cy="2560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marL="203200" indent="-203200">
              <a:spcAft>
                <a:spcPts val="1200"/>
              </a:spcAft>
              <a:buSzPct val="100000"/>
              <a:buChar char="•"/>
            </a:pPr>
            <a:r>
              <a:rPr lang="en-US" sz="1400" dirty="0">
                <a:solidFill>
                  <a:srgbClr val="0E2E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query and DML runs in USER_MODE — the platform enforces the user’s access.</a:t>
            </a:r>
            <a:endParaRPr lang="en-US" sz="1400" dirty="0"/>
          </a:p>
          <a:p>
            <a:pPr algn="l" marL="203200" indent="-203200">
              <a:spcAft>
                <a:spcPts val="1200"/>
              </a:spcAft>
              <a:buSzPct val="100000"/>
              <a:buChar char="•"/>
            </a:pPr>
            <a:r>
              <a:rPr lang="en-US" sz="1400" dirty="0">
                <a:solidFill>
                  <a:srgbClr val="0E2E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Never throws: every failure returns a plain-language message, so a conversation stays recoverable.</a:t>
            </a:r>
            <a:endParaRPr lang="en-US" sz="1400" dirty="0"/>
          </a:p>
          <a:p>
            <a:pPr algn="l" marL="203200" indent="-203200">
              <a:buSzPct val="100000"/>
              <a:buChar char="•"/>
            </a:pPr>
            <a:r>
              <a:rPr lang="en-US" sz="1400" dirty="0">
                <a:solidFill>
                  <a:srgbClr val="0E2E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Bulkified by construction, and covered by 14 Apex tests.</a:t>
            </a:r>
            <a:endParaRPr lang="en-US" sz="1400" dirty="0"/>
          </a:p>
        </p:txBody>
      </p:sp>
      <p:sp>
        <p:nvSpPr>
          <p:cNvPr id="16" name="Text 13"/>
          <p:cNvSpPr/>
          <p:nvPr/>
        </p:nvSpPr>
        <p:spPr>
          <a:xfrm>
            <a:off x="548640" y="644652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B70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AI-Powered Appointment Management Assistant  ·  Salesforce Capstone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75488"/>
            <a:ext cx="585216" cy="585216"/>
          </a:xfrm>
          <a:prstGeom prst="ellipse">
            <a:avLst/>
          </a:prstGeom>
          <a:solidFill>
            <a:srgbClr val="028090"/>
          </a:solidFill>
          <a:ln/>
        </p:spPr>
        <p:txBody>
          <a:bodyPr/>
          <a:p/>
        </p:txBody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94944" y="621792"/>
            <a:ext cx="292608" cy="292608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335024" y="457200"/>
            <a:ext cx="1003096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E2E3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Screen Flow — Booking Interface</a:t>
            </a:r>
            <a:endParaRPr lang="en-US" sz="3000" dirty="0"/>
          </a:p>
        </p:txBody>
      </p:sp>
      <p:sp>
        <p:nvSpPr>
          <p:cNvPr id="5" name="Text 2"/>
          <p:cNvSpPr/>
          <p:nvPr/>
        </p:nvSpPr>
        <p:spPr>
          <a:xfrm>
            <a:off x="11183112" y="502920"/>
            <a:ext cx="4572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5B70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1300" dirty="0"/>
          </a:p>
        </p:txBody>
      </p:sp>
      <p:sp>
        <p:nvSpPr>
          <p:cNvPr id="6" name="Shape 3"/>
          <p:cNvSpPr/>
          <p:nvPr/>
        </p:nvSpPr>
        <p:spPr>
          <a:xfrm>
            <a:off x="548640" y="1261872"/>
            <a:ext cx="1005840" cy="0"/>
          </a:xfrm>
          <a:prstGeom prst="line">
            <a:avLst/>
          </a:prstGeom>
          <a:noFill/>
          <a:ln w="31750">
            <a:solidFill>
              <a:srgbClr val="02C39A"/>
            </a:solidFill>
            <a:prstDash val="solid"/>
          </a:ln>
        </p:spPr>
        <p:txBody>
          <a:bodyPr/>
          <a:p/>
        </p:txBody>
      </p:sp>
      <p:sp>
        <p:nvSpPr>
          <p:cNvPr id="7" name="Shape 4"/>
          <p:cNvSpPr/>
          <p:nvPr/>
        </p:nvSpPr>
        <p:spPr>
          <a:xfrm>
            <a:off x="548640" y="1600200"/>
            <a:ext cx="5212080" cy="4297680"/>
          </a:xfrm>
          <a:prstGeom prst="roundRect">
            <a:avLst>
              <a:gd name="adj" fmla="val 2553"/>
            </a:avLst>
          </a:prstGeom>
          <a:solidFill>
            <a:srgbClr val="FFFFFF"/>
          </a:solidFill>
          <a:ln w="15875">
            <a:solidFill>
              <a:srgbClr val="D5E2E4"/>
            </a:solidFill>
            <a:prstDash val="solid"/>
          </a:ln>
          <a:effectLst>
            <a:outerShdw sx="100000" sy="100000" kx="0" ky="0" algn="bl" rotWithShape="0" blurRad="114300" dist="38100" dir="5400000">
              <a:srgbClr val="AEC0C2">
                <a:alpha val="55000"/>
              </a:srgbClr>
            </a:outerShdw>
          </a:effectLst>
        </p:spPr>
        <p:txBody>
          <a:bodyPr/>
          <a:p/>
        </p:txBody>
      </p:sp>
      <p:sp>
        <p:nvSpPr>
          <p:cNvPr id="8" name="Shape 5"/>
          <p:cNvSpPr/>
          <p:nvPr/>
        </p:nvSpPr>
        <p:spPr>
          <a:xfrm>
            <a:off x="548640" y="1600200"/>
            <a:ext cx="5212080" cy="640080"/>
          </a:xfrm>
          <a:prstGeom prst="roundRect">
            <a:avLst>
              <a:gd name="adj" fmla="val 17143"/>
            </a:avLst>
          </a:prstGeom>
          <a:solidFill>
            <a:srgbClr val="028090"/>
          </a:solidFill>
          <a:ln/>
        </p:spPr>
        <p:txBody>
          <a:bodyPr/>
          <a:p/>
        </p:txBody>
      </p:sp>
      <p:sp>
        <p:nvSpPr>
          <p:cNvPr id="9" name="Text 6"/>
          <p:cNvSpPr/>
          <p:nvPr/>
        </p:nvSpPr>
        <p:spPr>
          <a:xfrm>
            <a:off x="822960" y="1600200"/>
            <a:ext cx="46634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Book Appointment Screen</a:t>
            </a:r>
            <a:endParaRPr lang="en-US" sz="1500" dirty="0"/>
          </a:p>
        </p:txBody>
      </p:sp>
      <p:sp>
        <p:nvSpPr>
          <p:cNvPr id="10" name="Text 7"/>
          <p:cNvSpPr/>
          <p:nvPr/>
        </p:nvSpPr>
        <p:spPr>
          <a:xfrm>
            <a:off x="914400" y="2514600"/>
            <a:ext cx="448056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0E2E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Appointment Date/Time</a:t>
            </a:r>
            <a:endParaRPr lang="en-US" sz="1250" dirty="0"/>
          </a:p>
        </p:txBody>
      </p:sp>
      <p:sp>
        <p:nvSpPr>
          <p:cNvPr id="11" name="Shape 8"/>
          <p:cNvSpPr/>
          <p:nvPr/>
        </p:nvSpPr>
        <p:spPr>
          <a:xfrm>
            <a:off x="914400" y="2834640"/>
            <a:ext cx="4480560" cy="566928"/>
          </a:xfrm>
          <a:prstGeom prst="roundRect">
            <a:avLst>
              <a:gd name="adj" fmla="val 9677"/>
            </a:avLst>
          </a:prstGeom>
          <a:solidFill>
            <a:srgbClr val="F1F6F7"/>
          </a:solidFill>
          <a:ln w="12700">
            <a:solidFill>
              <a:srgbClr val="D5E2E4"/>
            </a:solidFill>
            <a:prstDash val="solid"/>
          </a:ln>
        </p:spPr>
        <p:txBody>
          <a:bodyPr/>
          <a:p/>
        </p:txBody>
      </p:sp>
      <p:sp>
        <p:nvSpPr>
          <p:cNvPr id="12" name="Text 9"/>
          <p:cNvSpPr/>
          <p:nvPr/>
        </p:nvSpPr>
        <p:spPr>
          <a:xfrm>
            <a:off x="1097280" y="2834640"/>
            <a:ext cx="42062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5B70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e.g.  19/08/2026  10:30 AM</a:t>
            </a:r>
            <a:endParaRPr lang="en-US" sz="1200" dirty="0"/>
          </a:p>
        </p:txBody>
      </p:sp>
      <p:sp>
        <p:nvSpPr>
          <p:cNvPr id="13" name="Text 10"/>
          <p:cNvSpPr/>
          <p:nvPr/>
        </p:nvSpPr>
        <p:spPr>
          <a:xfrm>
            <a:off x="914400" y="3611880"/>
            <a:ext cx="448056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0E2E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Service Type</a:t>
            </a:r>
            <a:endParaRPr lang="en-US" sz="1250" dirty="0"/>
          </a:p>
        </p:txBody>
      </p:sp>
      <p:sp>
        <p:nvSpPr>
          <p:cNvPr id="14" name="Shape 11"/>
          <p:cNvSpPr/>
          <p:nvPr/>
        </p:nvSpPr>
        <p:spPr>
          <a:xfrm>
            <a:off x="914400" y="3931920"/>
            <a:ext cx="4480560" cy="566928"/>
          </a:xfrm>
          <a:prstGeom prst="roundRect">
            <a:avLst>
              <a:gd name="adj" fmla="val 9677"/>
            </a:avLst>
          </a:prstGeom>
          <a:solidFill>
            <a:srgbClr val="F1F6F7"/>
          </a:solidFill>
          <a:ln w="12700">
            <a:solidFill>
              <a:srgbClr val="D5E2E4"/>
            </a:solidFill>
            <a:prstDash val="solid"/>
          </a:ln>
        </p:spPr>
        <p:txBody>
          <a:bodyPr/>
          <a:p/>
        </p:txBody>
      </p:sp>
      <p:sp>
        <p:nvSpPr>
          <p:cNvPr id="15" name="Text 12"/>
          <p:cNvSpPr/>
          <p:nvPr/>
        </p:nvSpPr>
        <p:spPr>
          <a:xfrm>
            <a:off x="1097280" y="3931920"/>
            <a:ext cx="384048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E2E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Consultation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4983480" y="3931920"/>
            <a:ext cx="36576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B70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</a:t>
            </a:r>
            <a:endParaRPr lang="en-US" sz="1100" dirty="0"/>
          </a:p>
        </p:txBody>
      </p:sp>
      <p:sp>
        <p:nvSpPr>
          <p:cNvPr id="17" name="Shape 14"/>
          <p:cNvSpPr/>
          <p:nvPr/>
        </p:nvSpPr>
        <p:spPr>
          <a:xfrm>
            <a:off x="914400" y="4846320"/>
            <a:ext cx="4480560" cy="658368"/>
          </a:xfrm>
          <a:prstGeom prst="roundRect">
            <a:avLst>
              <a:gd name="adj" fmla="val 11111"/>
            </a:avLst>
          </a:prstGeom>
          <a:solidFill>
            <a:srgbClr val="00A896"/>
          </a:solidFill>
          <a:ln/>
        </p:spPr>
        <p:txBody>
          <a:bodyPr/>
          <a:p/>
        </p:txBody>
      </p:sp>
      <p:sp>
        <p:nvSpPr>
          <p:cNvPr id="18" name="Text 15"/>
          <p:cNvSpPr/>
          <p:nvPr/>
        </p:nvSpPr>
        <p:spPr>
          <a:xfrm>
            <a:off x="914400" y="4846320"/>
            <a:ext cx="448056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Book Appointment</a:t>
            </a:r>
            <a:endParaRPr lang="en-US" sz="1500" dirty="0"/>
          </a:p>
        </p:txBody>
      </p:sp>
      <p:sp>
        <p:nvSpPr>
          <p:cNvPr id="19" name="Text 16"/>
          <p:cNvSpPr/>
          <p:nvPr/>
        </p:nvSpPr>
        <p:spPr>
          <a:xfrm>
            <a:off x="6172200" y="1737360"/>
            <a:ext cx="5486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900" b="1" dirty="0">
                <a:solidFill>
                  <a:srgbClr val="02809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working, user-facing front-end</a:t>
            </a:r>
            <a:endParaRPr lang="en-US" sz="1900" dirty="0"/>
          </a:p>
        </p:txBody>
      </p:sp>
      <p:sp>
        <p:nvSpPr>
          <p:cNvPr id="20" name="Text 17"/>
          <p:cNvSpPr/>
          <p:nvPr/>
        </p:nvSpPr>
        <p:spPr>
          <a:xfrm>
            <a:off x="6172200" y="2377440"/>
            <a:ext cx="5486400" cy="3291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marL="203200" indent="-203200">
              <a:spcAft>
                <a:spcPts val="1300"/>
              </a:spcAft>
              <a:buSzPct val="100000"/>
              <a:buChar char="•"/>
            </a:pPr>
            <a:r>
              <a:rPr lang="en-US" sz="1500" dirty="0">
                <a:solidFill>
                  <a:srgbClr val="0E2E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"Book Appointment Screen" is an Active Screen Flow.</a:t>
            </a:r>
            <a:endParaRPr lang="en-US" sz="1500" dirty="0"/>
          </a:p>
          <a:p>
            <a:pPr algn="l" marL="203200" indent="-203200">
              <a:spcAft>
                <a:spcPts val="1300"/>
              </a:spcAft>
              <a:buSzPct val="100000"/>
              <a:buChar char="•"/>
            </a:pPr>
            <a:r>
              <a:rPr lang="en-US" sz="1500" dirty="0">
                <a:solidFill>
                  <a:srgbClr val="0E2E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Collects Date/Time and Service Type from the user.</a:t>
            </a:r>
            <a:endParaRPr lang="en-US" sz="1500" dirty="0"/>
          </a:p>
          <a:p>
            <a:pPr algn="l" marL="203200" indent="-203200">
              <a:spcAft>
                <a:spcPts val="1300"/>
              </a:spcAft>
              <a:buSzPct val="100000"/>
              <a:buChar char="•"/>
            </a:pPr>
            <a:r>
              <a:rPr lang="en-US" sz="1500" dirty="0">
                <a:solidFill>
                  <a:srgbClr val="0E2E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Creates the appointment record on submission.</a:t>
            </a:r>
            <a:endParaRPr lang="en-US" sz="1500" dirty="0"/>
          </a:p>
          <a:p>
            <a:pPr algn="l" marL="203200" indent="-203200">
              <a:spcAft>
                <a:spcPts val="1300"/>
              </a:spcAft>
              <a:buSzPct val="100000"/>
              <a:buChar char="•"/>
            </a:pPr>
            <a:r>
              <a:rPr lang="en-US" sz="1500" dirty="0">
                <a:solidFill>
                  <a:srgbClr val="0E2E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Serves as a real, user-facing booking interface.</a:t>
            </a:r>
            <a:endParaRPr lang="en-US" sz="1500" dirty="0"/>
          </a:p>
          <a:p>
            <a:pPr algn="l" marL="203200" indent="-203200">
              <a:buSzPct val="100000"/>
              <a:buChar char="•"/>
            </a:pPr>
            <a:r>
              <a:rPr lang="en-US" sz="1500" dirty="0">
                <a:solidFill>
                  <a:srgbClr val="0E2E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Acts as a functional alternative to the conversational AI agent.</a:t>
            </a:r>
            <a:endParaRPr lang="en-US" sz="1500" dirty="0"/>
          </a:p>
        </p:txBody>
      </p:sp>
      <p:sp>
        <p:nvSpPr>
          <p:cNvPr id="21" name="Text 18"/>
          <p:cNvSpPr/>
          <p:nvPr/>
        </p:nvSpPr>
        <p:spPr>
          <a:xfrm>
            <a:off x="548640" y="644652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B70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AI-Powered Appointment Management Assistant  ·  Salesforce Capstone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Shape 0"/>
          <p:cNvSpPr/>
          <p:nvPr/>
        </p:nvSpPr>
        <p:spPr>
          <a:xfrm>
            <a:off x="548640" y="475488"/>
            <a:ext cx="585216" cy="585216"/>
          </a:xfrm>
          <a:prstGeom prst="ellipse">
            <a:avLst/>
          </a:prstGeom>
          <a:solidFill>
            <a:srgbClr val="028090"/>
          </a:solidFill>
          <a:ln/>
        </p:spPr>
        <p:txBody>
          <a:bodyPr/>
          <a:p/>
        </p:txBody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4944" y="621792"/>
            <a:ext cx="292608" cy="292608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335024" y="457200"/>
            <a:ext cx="1003096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E2E3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Custom Lightning Web Component</a:t>
            </a:r>
            <a:endParaRPr lang="en-US" sz="3000" dirty="0"/>
          </a:p>
        </p:txBody>
      </p:sp>
      <p:sp>
        <p:nvSpPr>
          <p:cNvPr id="5" name="Text 2"/>
          <p:cNvSpPr/>
          <p:nvPr/>
        </p:nvSpPr>
        <p:spPr>
          <a:xfrm>
            <a:off x="11183112" y="502920"/>
            <a:ext cx="4572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5B70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1300" dirty="0"/>
          </a:p>
        </p:txBody>
      </p:sp>
      <p:sp>
        <p:nvSpPr>
          <p:cNvPr id="6" name="Shape 3"/>
          <p:cNvSpPr/>
          <p:nvPr/>
        </p:nvSpPr>
        <p:spPr>
          <a:xfrm>
            <a:off x="548640" y="1261872"/>
            <a:ext cx="1005840" cy="0"/>
          </a:xfrm>
          <a:prstGeom prst="line">
            <a:avLst/>
          </a:prstGeom>
          <a:noFill/>
          <a:ln w="31750">
            <a:solidFill>
              <a:srgbClr val="02C39A"/>
            </a:solidFill>
            <a:prstDash val="solid"/>
          </a:ln>
        </p:spPr>
        <p:txBody>
          <a:bodyPr/>
          <a:p/>
        </p:txBody>
      </p:sp>
      <p:sp>
        <p:nvSpPr>
          <p:cNvPr id="7" name="Text 4"/>
          <p:cNvSpPr/>
          <p:nvPr/>
        </p:nvSpPr>
        <p:spPr>
          <a:xfrm>
            <a:off x="548640" y="1417320"/>
            <a:ext cx="110642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5B70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“Upcoming Appointments” — a custom LWC on the app Home page, backed by a security-enforced Apex controller.</a:t>
            </a:r>
            <a:endParaRPr lang="en-US" sz="1400" dirty="0"/>
          </a:p>
        </p:txBody>
      </p:sp>
      <p:sp>
        <p:nvSpPr>
          <p:cNvPr id="8" name="Shape 5"/>
          <p:cNvSpPr/>
          <p:nvPr/>
        </p:nvSpPr>
        <p:spPr>
          <a:xfrm>
            <a:off x="548640" y="2194560"/>
            <a:ext cx="5362956" cy="3566160"/>
          </a:xfrm>
          <a:prstGeom prst="roundRect">
            <a:avLst>
              <a:gd name="adj" fmla="val 3077"/>
            </a:avLst>
          </a:prstGeom>
          <a:solidFill>
            <a:srgbClr val="FFFFFF"/>
          </a:solidFill>
          <a:ln w="15875">
            <a:solidFill>
              <a:srgbClr val="D5E2E4"/>
            </a:solidFill>
            <a:prstDash val="solid"/>
          </a:ln>
        </p:spPr>
        <p:txBody>
          <a:bodyPr/>
          <a:p/>
        </p:txBody>
      </p:sp>
      <p:sp>
        <p:nvSpPr>
          <p:cNvPr id="9" name="Shape 6"/>
          <p:cNvSpPr/>
          <p:nvPr/>
        </p:nvSpPr>
        <p:spPr>
          <a:xfrm>
            <a:off x="548640" y="2194560"/>
            <a:ext cx="5362956" cy="640080"/>
          </a:xfrm>
          <a:prstGeom prst="roundRect">
            <a:avLst>
              <a:gd name="adj" fmla="val 17143"/>
            </a:avLst>
          </a:prstGeom>
          <a:solidFill>
            <a:srgbClr val="E0A02F"/>
          </a:solidFill>
          <a:ln/>
        </p:spPr>
        <p:txBody>
          <a:bodyPr/>
          <a:p/>
        </p:txBody>
      </p:sp>
      <p:sp>
        <p:nvSpPr>
          <p:cNvPr id="10" name="Text 7"/>
          <p:cNvSpPr/>
          <p:nvPr/>
        </p:nvSpPr>
        <p:spPr>
          <a:xfrm>
            <a:off x="822960" y="2194560"/>
            <a:ext cx="4814316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It Does</a:t>
            </a:r>
            <a:endParaRPr lang="en-US" sz="1600" dirty="0"/>
          </a:p>
        </p:txBody>
      </p:sp>
      <p:sp>
        <p:nvSpPr>
          <p:cNvPr id="11" name="Text 8"/>
          <p:cNvSpPr/>
          <p:nvPr/>
        </p:nvSpPr>
        <p:spPr>
          <a:xfrm>
            <a:off x="822960" y="3063240"/>
            <a:ext cx="4814316" cy="2560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marL="203200" indent="-203200">
              <a:spcAft>
                <a:spcPts val="1200"/>
              </a:spcAft>
              <a:buSzPct val="100000"/>
              <a:buChar char="•"/>
            </a:pPr>
            <a:r>
              <a:rPr lang="en-US" sz="1400" dirty="0">
                <a:solidFill>
                  <a:srgbClr val="0E2E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Lists the next upcoming, non-cancelled appointments, soonest first.</a:t>
            </a:r>
            <a:endParaRPr lang="en-US" sz="1400" dirty="0"/>
          </a:p>
          <a:p>
            <a:pPr algn="l" marL="203200" indent="-203200">
              <a:spcAft>
                <a:spcPts val="1200"/>
              </a:spcAft>
              <a:buSzPct val="100000"/>
              <a:buChar char="•"/>
            </a:pPr>
            <a:r>
              <a:rPr lang="en-US" sz="1400" dirty="0">
                <a:solidFill>
                  <a:srgbClr val="0E2E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Shows appointment number, customer, date/time, service and status.</a:t>
            </a:r>
            <a:endParaRPr lang="en-US" sz="1400" dirty="0"/>
          </a:p>
          <a:p>
            <a:pPr algn="l" marL="203200" indent="-203200">
              <a:buSzPct val="100000"/>
              <a:buChar char="•"/>
            </a:pPr>
            <a:r>
              <a:rPr lang="en-US" sz="1400" dirty="0">
                <a:solidFill>
                  <a:srgbClr val="0E2E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Clean empty state and a friendly error state — never a blank card.</a:t>
            </a:r>
            <a:endParaRPr lang="en-US" sz="1400" dirty="0"/>
          </a:p>
        </p:txBody>
      </p:sp>
      <p:sp>
        <p:nvSpPr>
          <p:cNvPr id="12" name="Shape 9"/>
          <p:cNvSpPr/>
          <p:nvPr/>
        </p:nvSpPr>
        <p:spPr>
          <a:xfrm>
            <a:off x="6277356" y="2194560"/>
            <a:ext cx="5362956" cy="3566160"/>
          </a:xfrm>
          <a:prstGeom prst="roundRect">
            <a:avLst>
              <a:gd name="adj" fmla="val 3077"/>
            </a:avLst>
          </a:prstGeom>
          <a:solidFill>
            <a:srgbClr val="FFFFFF"/>
          </a:solidFill>
          <a:ln w="15875">
            <a:solidFill>
              <a:srgbClr val="D5E2E4"/>
            </a:solidFill>
            <a:prstDash val="solid"/>
          </a:ln>
        </p:spPr>
        <p:txBody>
          <a:bodyPr/>
          <a:p/>
        </p:txBody>
      </p:sp>
      <p:sp>
        <p:nvSpPr>
          <p:cNvPr id="13" name="Shape 10"/>
          <p:cNvSpPr/>
          <p:nvPr/>
        </p:nvSpPr>
        <p:spPr>
          <a:xfrm>
            <a:off x="6277356" y="2194560"/>
            <a:ext cx="5362956" cy="640080"/>
          </a:xfrm>
          <a:prstGeom prst="roundRect">
            <a:avLst>
              <a:gd name="adj" fmla="val 17143"/>
            </a:avLst>
          </a:prstGeom>
          <a:solidFill>
            <a:srgbClr val="00A896"/>
          </a:solidFill>
          <a:ln/>
        </p:spPr>
        <p:txBody>
          <a:bodyPr/>
          <a:p/>
        </p:txBody>
      </p:sp>
      <p:sp>
        <p:nvSpPr>
          <p:cNvPr id="14" name="Text 11"/>
          <p:cNvSpPr/>
          <p:nvPr/>
        </p:nvSpPr>
        <p:spPr>
          <a:xfrm>
            <a:off x="6551676" y="2194560"/>
            <a:ext cx="4814316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It Is Built</a:t>
            </a:r>
            <a:endParaRPr lang="en-US" sz="1600" dirty="0"/>
          </a:p>
        </p:txBody>
      </p:sp>
      <p:sp>
        <p:nvSpPr>
          <p:cNvPr id="15" name="Text 12"/>
          <p:cNvSpPr/>
          <p:nvPr/>
        </p:nvSpPr>
        <p:spPr>
          <a:xfrm>
            <a:off x="6551676" y="3063240"/>
            <a:ext cx="4814316" cy="2560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marL="203200" indent="-203200">
              <a:spcAft>
                <a:spcPts val="1200"/>
              </a:spcAft>
              <a:buSzPct val="100000"/>
              <a:buChar char="•"/>
            </a:pPr>
            <a:r>
              <a:rPr lang="en-US" sz="1400" dirty="0">
                <a:solidFill>
                  <a:srgbClr val="0E2E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@wire to a cacheable Apex method — cached on the client, refreshed automatically.</a:t>
            </a:r>
            <a:endParaRPr lang="en-US" sz="1400" dirty="0"/>
          </a:p>
          <a:p>
            <a:pPr algn="l" marL="203200" indent="-203200">
              <a:spcAft>
                <a:spcPts val="1200"/>
              </a:spcAft>
              <a:buSzPct val="100000"/>
              <a:buChar char="•"/>
            </a:pPr>
            <a:r>
              <a:rPr lang="en-US" sz="1400" dirty="0">
                <a:solidFill>
                  <a:srgbClr val="0E2E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SOQL runs WITH USER_MODE, so the query respects the running user’s access.</a:t>
            </a:r>
            <a:endParaRPr lang="en-US" sz="1400" dirty="0"/>
          </a:p>
          <a:p>
            <a:pPr algn="l" marL="203200" indent="-203200">
              <a:buSzPct val="100000"/>
              <a:buChar char="•"/>
            </a:pPr>
            <a:r>
              <a:rPr lang="en-US" sz="1400" dirty="0">
                <a:solidFill>
                  <a:srgbClr val="0E2E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Row count is a design attribute — configurable in App Builder, no code change.</a:t>
            </a:r>
            <a:endParaRPr lang="en-US" sz="1400" dirty="0"/>
          </a:p>
        </p:txBody>
      </p:sp>
      <p:sp>
        <p:nvSpPr>
          <p:cNvPr id="16" name="Text 13"/>
          <p:cNvSpPr/>
          <p:nvPr/>
        </p:nvSpPr>
        <p:spPr>
          <a:xfrm>
            <a:off x="548640" y="644652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B70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AI-Powered Appointment Management Assistant  ·  Salesforce Capstone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75488"/>
            <a:ext cx="585216" cy="585216"/>
          </a:xfrm>
          <a:prstGeom prst="ellipse">
            <a:avLst/>
          </a:prstGeom>
          <a:solidFill>
            <a:srgbClr val="028090"/>
          </a:solidFill>
          <a:ln/>
        </p:spPr>
        <p:txBody>
          <a:bodyPr/>
          <a:p/>
        </p:txBody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94944" y="621792"/>
            <a:ext cx="292608" cy="292608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335024" y="457200"/>
            <a:ext cx="1003096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E2E3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Lightning App</a:t>
            </a:r>
            <a:endParaRPr lang="en-US" sz="3000" dirty="0"/>
          </a:p>
        </p:txBody>
      </p:sp>
      <p:sp>
        <p:nvSpPr>
          <p:cNvPr id="5" name="Text 2"/>
          <p:cNvSpPr/>
          <p:nvPr/>
        </p:nvSpPr>
        <p:spPr>
          <a:xfrm>
            <a:off x="11183112" y="502920"/>
            <a:ext cx="4572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5B70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1300" dirty="0"/>
          </a:p>
        </p:txBody>
      </p:sp>
      <p:sp>
        <p:nvSpPr>
          <p:cNvPr id="6" name="Shape 3"/>
          <p:cNvSpPr/>
          <p:nvPr/>
        </p:nvSpPr>
        <p:spPr>
          <a:xfrm>
            <a:off x="548640" y="1261872"/>
            <a:ext cx="1005840" cy="0"/>
          </a:xfrm>
          <a:prstGeom prst="line">
            <a:avLst/>
          </a:prstGeom>
          <a:noFill/>
          <a:ln w="31750">
            <a:solidFill>
              <a:srgbClr val="02C39A"/>
            </a:solidFill>
            <a:prstDash val="solid"/>
          </a:ln>
        </p:spPr>
        <p:txBody>
          <a:bodyPr/>
          <a:p/>
        </p:txBody>
      </p:sp>
      <p:sp>
        <p:nvSpPr>
          <p:cNvPr id="7" name="Shape 4"/>
          <p:cNvSpPr/>
          <p:nvPr/>
        </p:nvSpPr>
        <p:spPr>
          <a:xfrm>
            <a:off x="548640" y="1691640"/>
            <a:ext cx="6309360" cy="3840480"/>
          </a:xfrm>
          <a:prstGeom prst="roundRect">
            <a:avLst>
              <a:gd name="adj" fmla="val 2857"/>
            </a:avLst>
          </a:prstGeom>
          <a:solidFill>
            <a:srgbClr val="FFFFFF"/>
          </a:solidFill>
          <a:ln w="15875">
            <a:solidFill>
              <a:srgbClr val="D5E2E4"/>
            </a:solidFill>
            <a:prstDash val="solid"/>
          </a:ln>
          <a:effectLst>
            <a:outerShdw sx="100000" sy="100000" kx="0" ky="0" algn="bl" rotWithShape="0" blurRad="114300" dist="38100" dir="5400000">
              <a:srgbClr val="AEC0C2">
                <a:alpha val="55000"/>
              </a:srgbClr>
            </a:outerShdw>
          </a:effectLst>
        </p:spPr>
        <p:txBody>
          <a:bodyPr/>
          <a:p/>
        </p:txBody>
      </p:sp>
      <p:sp>
        <p:nvSpPr>
          <p:cNvPr id="8" name="Shape 5"/>
          <p:cNvSpPr/>
          <p:nvPr/>
        </p:nvSpPr>
        <p:spPr>
          <a:xfrm>
            <a:off x="548640" y="1691640"/>
            <a:ext cx="6309360" cy="868680"/>
          </a:xfrm>
          <a:prstGeom prst="roundRect">
            <a:avLst>
              <a:gd name="adj" fmla="val 12632"/>
            </a:avLst>
          </a:prstGeom>
          <a:solidFill>
            <a:srgbClr val="0E2E34"/>
          </a:solidFill>
          <a:ln/>
        </p:spPr>
        <p:txBody>
          <a:bodyPr/>
          <a:p/>
        </p:txBody>
      </p:sp>
      <p:sp>
        <p:nvSpPr>
          <p:cNvPr id="9" name="Shape 6"/>
          <p:cNvSpPr/>
          <p:nvPr/>
        </p:nvSpPr>
        <p:spPr>
          <a:xfrm>
            <a:off x="868680" y="1929384"/>
            <a:ext cx="402336" cy="402336"/>
          </a:xfrm>
          <a:prstGeom prst="roundRect">
            <a:avLst>
              <a:gd name="adj" fmla="val 13636"/>
            </a:avLst>
          </a:prstGeom>
          <a:solidFill>
            <a:srgbClr val="02C39A"/>
          </a:solidFill>
          <a:ln/>
        </p:spPr>
        <p:txBody>
          <a:bodyPr/>
          <a:p/>
        </p:txBody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50976" y="2011680"/>
            <a:ext cx="237744" cy="237744"/>
          </a:xfrm>
          <a:prstGeom prst="rect">
            <a:avLst/>
          </a:prstGeom>
        </p:spPr>
      </p:pic>
      <p:sp>
        <p:nvSpPr>
          <p:cNvPr id="11" name="Text 7"/>
          <p:cNvSpPr/>
          <p:nvPr/>
        </p:nvSpPr>
        <p:spPr>
          <a:xfrm>
            <a:off x="1417320" y="1691640"/>
            <a:ext cx="521208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Appointment Management</a:t>
            </a:r>
            <a:endParaRPr lang="en-US" sz="1700" dirty="0"/>
          </a:p>
        </p:txBody>
      </p:sp>
      <p:sp>
        <p:nvSpPr>
          <p:cNvPr id="12" name="Shape 8"/>
          <p:cNvSpPr/>
          <p:nvPr/>
        </p:nvSpPr>
        <p:spPr>
          <a:xfrm>
            <a:off x="868680" y="2834640"/>
            <a:ext cx="1335024" cy="502920"/>
          </a:xfrm>
          <a:prstGeom prst="roundRect">
            <a:avLst>
              <a:gd name="adj" fmla="val 50909"/>
            </a:avLst>
          </a:prstGeom>
          <a:solidFill>
            <a:srgbClr val="028090"/>
          </a:solidFill>
          <a:ln w="12700">
            <a:solidFill>
              <a:srgbClr val="D5E2E4"/>
            </a:solidFill>
            <a:prstDash val="solid"/>
          </a:ln>
        </p:spPr>
        <p:txBody>
          <a:bodyPr/>
          <a:p/>
        </p:txBody>
      </p:sp>
      <p:sp>
        <p:nvSpPr>
          <p:cNvPr id="13" name="Text 9"/>
          <p:cNvSpPr/>
          <p:nvPr/>
        </p:nvSpPr>
        <p:spPr>
          <a:xfrm>
            <a:off x="868680" y="2834640"/>
            <a:ext cx="1335024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Appointments</a:t>
            </a:r>
            <a:endParaRPr lang="en-US" sz="1150" dirty="0"/>
          </a:p>
        </p:txBody>
      </p:sp>
      <p:sp>
        <p:nvSpPr>
          <p:cNvPr id="14" name="Shape 10"/>
          <p:cNvSpPr/>
          <p:nvPr/>
        </p:nvSpPr>
        <p:spPr>
          <a:xfrm>
            <a:off x="2313432" y="2834640"/>
            <a:ext cx="1335024" cy="502920"/>
          </a:xfrm>
          <a:prstGeom prst="roundRect">
            <a:avLst>
              <a:gd name="adj" fmla="val 50909"/>
            </a:avLst>
          </a:prstGeom>
          <a:solidFill>
            <a:srgbClr val="F1F6F7"/>
          </a:solidFill>
          <a:ln w="12700">
            <a:solidFill>
              <a:srgbClr val="D5E2E4"/>
            </a:solidFill>
            <a:prstDash val="solid"/>
          </a:ln>
        </p:spPr>
        <p:txBody>
          <a:bodyPr/>
          <a:p/>
        </p:txBody>
      </p:sp>
      <p:sp>
        <p:nvSpPr>
          <p:cNvPr id="15" name="Text 11"/>
          <p:cNvSpPr/>
          <p:nvPr/>
        </p:nvSpPr>
        <p:spPr>
          <a:xfrm>
            <a:off x="2313432" y="2834640"/>
            <a:ext cx="1335024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5B70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Contacts</a:t>
            </a:r>
            <a:endParaRPr lang="en-US" sz="1150" dirty="0"/>
          </a:p>
        </p:txBody>
      </p:sp>
      <p:sp>
        <p:nvSpPr>
          <p:cNvPr id="16" name="Shape 12"/>
          <p:cNvSpPr/>
          <p:nvPr/>
        </p:nvSpPr>
        <p:spPr>
          <a:xfrm>
            <a:off x="3758184" y="2834640"/>
            <a:ext cx="1335024" cy="502920"/>
          </a:xfrm>
          <a:prstGeom prst="roundRect">
            <a:avLst>
              <a:gd name="adj" fmla="val 50909"/>
            </a:avLst>
          </a:prstGeom>
          <a:solidFill>
            <a:srgbClr val="F1F6F7"/>
          </a:solidFill>
          <a:ln w="12700">
            <a:solidFill>
              <a:srgbClr val="D5E2E4"/>
            </a:solidFill>
            <a:prstDash val="solid"/>
          </a:ln>
        </p:spPr>
        <p:txBody>
          <a:bodyPr/>
          <a:p/>
        </p:txBody>
      </p:sp>
      <p:sp>
        <p:nvSpPr>
          <p:cNvPr id="17" name="Text 13"/>
          <p:cNvSpPr/>
          <p:nvPr/>
        </p:nvSpPr>
        <p:spPr>
          <a:xfrm>
            <a:off x="3758184" y="2834640"/>
            <a:ext cx="1335024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5B70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Reports</a:t>
            </a:r>
            <a:endParaRPr lang="en-US" sz="1150" dirty="0"/>
          </a:p>
        </p:txBody>
      </p:sp>
      <p:sp>
        <p:nvSpPr>
          <p:cNvPr id="18" name="Shape 14"/>
          <p:cNvSpPr/>
          <p:nvPr/>
        </p:nvSpPr>
        <p:spPr>
          <a:xfrm>
            <a:off x="5202936" y="2834640"/>
            <a:ext cx="1335024" cy="502920"/>
          </a:xfrm>
          <a:prstGeom prst="roundRect">
            <a:avLst>
              <a:gd name="adj" fmla="val 50909"/>
            </a:avLst>
          </a:prstGeom>
          <a:solidFill>
            <a:srgbClr val="F1F6F7"/>
          </a:solidFill>
          <a:ln w="12700">
            <a:solidFill>
              <a:srgbClr val="D5E2E4"/>
            </a:solidFill>
            <a:prstDash val="solid"/>
          </a:ln>
        </p:spPr>
        <p:txBody>
          <a:bodyPr/>
          <a:p/>
        </p:txBody>
      </p:sp>
      <p:sp>
        <p:nvSpPr>
          <p:cNvPr id="19" name="Text 15"/>
          <p:cNvSpPr/>
          <p:nvPr/>
        </p:nvSpPr>
        <p:spPr>
          <a:xfrm>
            <a:off x="5202936" y="2834640"/>
            <a:ext cx="1335024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5B70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Dashboards</a:t>
            </a:r>
            <a:endParaRPr lang="en-US" sz="1150" dirty="0"/>
          </a:p>
        </p:txBody>
      </p:sp>
      <p:sp>
        <p:nvSpPr>
          <p:cNvPr id="20" name="Shape 16"/>
          <p:cNvSpPr/>
          <p:nvPr/>
        </p:nvSpPr>
        <p:spPr>
          <a:xfrm>
            <a:off x="868680" y="3566160"/>
            <a:ext cx="5669280" cy="457200"/>
          </a:xfrm>
          <a:prstGeom prst="roundRect">
            <a:avLst>
              <a:gd name="adj" fmla="val 12000"/>
            </a:avLst>
          </a:prstGeom>
          <a:solidFill>
            <a:srgbClr val="F1F6F7"/>
          </a:solidFill>
          <a:ln w="12700">
            <a:solidFill>
              <a:srgbClr val="D5E2E4"/>
            </a:solidFill>
            <a:prstDash val="solid"/>
          </a:ln>
        </p:spPr>
        <p:txBody>
          <a:bodyPr/>
          <a:p/>
        </p:txBody>
      </p:sp>
      <p:sp>
        <p:nvSpPr>
          <p:cNvPr id="21" name="Text 17"/>
          <p:cNvSpPr/>
          <p:nvPr/>
        </p:nvSpPr>
        <p:spPr>
          <a:xfrm>
            <a:off x="1051560" y="3566160"/>
            <a:ext cx="5394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E2E3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APT-00001   ·   Scheduled</a:t>
            </a:r>
            <a:endParaRPr lang="en-US" sz="1200" dirty="0"/>
          </a:p>
        </p:txBody>
      </p:sp>
      <p:sp>
        <p:nvSpPr>
          <p:cNvPr id="22" name="Shape 18"/>
          <p:cNvSpPr/>
          <p:nvPr/>
        </p:nvSpPr>
        <p:spPr>
          <a:xfrm>
            <a:off x="868680" y="4133088"/>
            <a:ext cx="5669280" cy="4572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D5E2E4"/>
            </a:solidFill>
            <a:prstDash val="solid"/>
          </a:ln>
        </p:spPr>
        <p:txBody>
          <a:bodyPr/>
          <a:p/>
        </p:txBody>
      </p:sp>
      <p:sp>
        <p:nvSpPr>
          <p:cNvPr id="23" name="Text 19"/>
          <p:cNvSpPr/>
          <p:nvPr/>
        </p:nvSpPr>
        <p:spPr>
          <a:xfrm>
            <a:off x="1051560" y="4133088"/>
            <a:ext cx="5394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E2E3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APT-00002   ·   Scheduled</a:t>
            </a:r>
            <a:endParaRPr lang="en-US" sz="1200" dirty="0"/>
          </a:p>
        </p:txBody>
      </p:sp>
      <p:sp>
        <p:nvSpPr>
          <p:cNvPr id="24" name="Shape 20"/>
          <p:cNvSpPr/>
          <p:nvPr/>
        </p:nvSpPr>
        <p:spPr>
          <a:xfrm>
            <a:off x="868680" y="4700016"/>
            <a:ext cx="5669280" cy="457200"/>
          </a:xfrm>
          <a:prstGeom prst="roundRect">
            <a:avLst>
              <a:gd name="adj" fmla="val 12000"/>
            </a:avLst>
          </a:prstGeom>
          <a:solidFill>
            <a:srgbClr val="F1F6F7"/>
          </a:solidFill>
          <a:ln w="12700">
            <a:solidFill>
              <a:srgbClr val="D5E2E4"/>
            </a:solidFill>
            <a:prstDash val="solid"/>
          </a:ln>
        </p:spPr>
        <p:txBody>
          <a:bodyPr/>
          <a:p/>
        </p:txBody>
      </p:sp>
      <p:sp>
        <p:nvSpPr>
          <p:cNvPr id="25" name="Text 21"/>
          <p:cNvSpPr/>
          <p:nvPr/>
        </p:nvSpPr>
        <p:spPr>
          <a:xfrm>
            <a:off x="1051560" y="4700016"/>
            <a:ext cx="5394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E2E3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APT-00003   ·   Scheduled</a:t>
            </a:r>
            <a:endParaRPr lang="en-US" sz="1200" dirty="0"/>
          </a:p>
        </p:txBody>
      </p:sp>
      <p:sp>
        <p:nvSpPr>
          <p:cNvPr id="26" name="Text 22"/>
          <p:cNvSpPr/>
          <p:nvPr/>
        </p:nvSpPr>
        <p:spPr>
          <a:xfrm>
            <a:off x="7086600" y="1828800"/>
            <a:ext cx="45720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marL="203200" indent="-203200">
              <a:spcAft>
                <a:spcPts val="1400"/>
              </a:spcAft>
              <a:buSzPct val="100000"/>
              <a:buChar char="•"/>
            </a:pPr>
            <a:r>
              <a:rPr lang="en-US" sz="1500" dirty="0">
                <a:solidFill>
                  <a:srgbClr val="0E2E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"Appointment Management" Lightning App.</a:t>
            </a:r>
            <a:endParaRPr lang="en-US" sz="1500" dirty="0"/>
          </a:p>
          <a:p>
            <a:pPr algn="l" marL="203200" indent="-203200">
              <a:spcAft>
                <a:spcPts val="1400"/>
              </a:spcAft>
              <a:buSzPct val="100000"/>
              <a:buChar char="•"/>
            </a:pPr>
            <a:r>
              <a:rPr lang="en-US" sz="1500" dirty="0">
                <a:solidFill>
                  <a:srgbClr val="0E2E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Tabs: Appointments, Contacts, Reports, Dashboards.</a:t>
            </a:r>
            <a:endParaRPr lang="en-US" sz="1500" dirty="0"/>
          </a:p>
          <a:p>
            <a:pPr algn="l" marL="203200" indent="-203200">
              <a:spcAft>
                <a:spcPts val="1400"/>
              </a:spcAft>
              <a:buSzPct val="100000"/>
              <a:buChar char="•"/>
            </a:pPr>
            <a:r>
              <a:rPr lang="en-US" sz="1500" dirty="0">
                <a:solidFill>
                  <a:srgbClr val="0E2E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Custom Tab created for the Appointment object.</a:t>
            </a:r>
            <a:endParaRPr lang="en-US" sz="1500" dirty="0"/>
          </a:p>
          <a:p>
            <a:pPr algn="l" marL="203200" indent="-203200">
              <a:spcAft>
                <a:spcPts val="1400"/>
              </a:spcAft>
              <a:buSzPct val="100000"/>
              <a:buChar char="•"/>
            </a:pPr>
            <a:r>
              <a:rPr lang="en-US" sz="1500" dirty="0">
                <a:solidFill>
                  <a:srgbClr val="0E2E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Assigned to the System Administrator profile.</a:t>
            </a:r>
            <a:endParaRPr lang="en-US" sz="1500" dirty="0"/>
          </a:p>
          <a:p>
            <a:pPr algn="l" marL="203200" indent="-203200">
              <a:buSzPct val="100000"/>
              <a:buChar char="•"/>
            </a:pPr>
            <a:r>
              <a:rPr lang="en-US" sz="1500" dirty="0">
                <a:solidFill>
                  <a:srgbClr val="0E2E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Central workspace for agents and admins.</a:t>
            </a:r>
            <a:endParaRPr lang="en-US" sz="1500" dirty="0"/>
          </a:p>
        </p:txBody>
      </p:sp>
      <p:sp>
        <p:nvSpPr>
          <p:cNvPr id="27" name="Text 23"/>
          <p:cNvSpPr/>
          <p:nvPr/>
        </p:nvSpPr>
        <p:spPr>
          <a:xfrm>
            <a:off x="548640" y="644652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B70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AI-Powered Appointment Management Assistant  ·  Salesforce Capstone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75488"/>
            <a:ext cx="585216" cy="585216"/>
          </a:xfrm>
          <a:prstGeom prst="ellipse">
            <a:avLst/>
          </a:prstGeom>
          <a:solidFill>
            <a:srgbClr val="028090"/>
          </a:solidFill>
          <a:ln/>
        </p:spPr>
        <p:txBody>
          <a:bodyPr/>
          <a:p/>
        </p:txBody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94944" y="621792"/>
            <a:ext cx="292608" cy="292608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335024" y="457200"/>
            <a:ext cx="1003096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E2E3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Reports &amp; Dashboard</a:t>
            </a:r>
            <a:endParaRPr lang="en-US" sz="3000" dirty="0"/>
          </a:p>
        </p:txBody>
      </p:sp>
      <p:sp>
        <p:nvSpPr>
          <p:cNvPr id="5" name="Text 2"/>
          <p:cNvSpPr/>
          <p:nvPr/>
        </p:nvSpPr>
        <p:spPr>
          <a:xfrm>
            <a:off x="11183112" y="502920"/>
            <a:ext cx="4572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5B70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1300" dirty="0"/>
          </a:p>
        </p:txBody>
      </p:sp>
      <p:sp>
        <p:nvSpPr>
          <p:cNvPr id="6" name="Shape 3"/>
          <p:cNvSpPr/>
          <p:nvPr/>
        </p:nvSpPr>
        <p:spPr>
          <a:xfrm>
            <a:off x="548640" y="1261872"/>
            <a:ext cx="1005840" cy="0"/>
          </a:xfrm>
          <a:prstGeom prst="line">
            <a:avLst/>
          </a:prstGeom>
          <a:noFill/>
          <a:ln w="31750">
            <a:solidFill>
              <a:srgbClr val="02C39A"/>
            </a:solidFill>
            <a:prstDash val="solid"/>
          </a:ln>
        </p:spPr>
        <p:txBody>
          <a:bodyPr/>
          <a:p/>
        </p:txBody>
      </p:sp>
      <p:sp>
        <p:nvSpPr>
          <p:cNvPr id="7" name="Shape 4"/>
          <p:cNvSpPr/>
          <p:nvPr/>
        </p:nvSpPr>
        <p:spPr>
          <a:xfrm>
            <a:off x="548640" y="1600200"/>
            <a:ext cx="6126480" cy="4297680"/>
          </a:xfrm>
          <a:prstGeom prst="roundRect">
            <a:avLst>
              <a:gd name="adj" fmla="val 2553"/>
            </a:avLst>
          </a:prstGeom>
          <a:solidFill>
            <a:srgbClr val="FFFFFF"/>
          </a:solidFill>
          <a:ln w="15875">
            <a:solidFill>
              <a:srgbClr val="D5E2E4"/>
            </a:solidFill>
            <a:prstDash val="solid"/>
          </a:ln>
          <a:effectLst>
            <a:outerShdw sx="100000" sy="100000" kx="0" ky="0" algn="bl" rotWithShape="0" blurRad="88900" dist="25400" dir="5400000">
              <a:srgbClr val="BCCBCD">
                <a:alpha val="50000"/>
              </a:srgbClr>
            </a:outerShdw>
          </a:effectLst>
        </p:spPr>
        <p:txBody>
          <a:bodyPr/>
          <a:p/>
        </p:txBody>
      </p:sp>
      <p:sp>
        <p:nvSpPr>
          <p:cNvPr id="8" name="Text 5"/>
          <p:cNvSpPr/>
          <p:nvPr/>
        </p:nvSpPr>
        <p:spPr>
          <a:xfrm>
            <a:off x="822960" y="1783080"/>
            <a:ext cx="55778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0E2E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Appointments by Status</a:t>
            </a:r>
            <a:endParaRPr lang="en-US" sz="1500" dirty="0"/>
          </a:p>
        </p:txBody>
      </p:sp>
      <p:graphicFrame>
        <p:nvGraphicFramePr>
          <p:cNvPr id="9" name="Chart 0" descr=""/>
          <p:cNvGraphicFramePr/>
          <p:nvPr/>
        </p:nvGraphicFramePr>
        <p:xfrm>
          <a:off x="777240" y="2194560"/>
          <a:ext cx="5669280" cy="34290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0" name="Text 6"/>
          <p:cNvSpPr/>
          <p:nvPr/>
        </p:nvSpPr>
        <p:spPr>
          <a:xfrm>
            <a:off x="6995160" y="1920240"/>
            <a:ext cx="4617720" cy="3291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marL="203200" indent="-203200">
              <a:spcAft>
                <a:spcPts val="1300"/>
              </a:spcAft>
              <a:buSzPct val="100000"/>
              <a:buChar char="•"/>
            </a:pPr>
            <a:r>
              <a:rPr lang="en-US" sz="1450" dirty="0">
                <a:solidFill>
                  <a:srgbClr val="0E2E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Custom Report Type:  "Appointments Report".</a:t>
            </a:r>
            <a:endParaRPr lang="en-US" sz="1450" dirty="0"/>
          </a:p>
          <a:p>
            <a:pPr algn="l" marL="203200" indent="-203200">
              <a:spcAft>
                <a:spcPts val="1300"/>
              </a:spcAft>
              <a:buSzPct val="100000"/>
              <a:buChar char="•"/>
            </a:pPr>
            <a:r>
              <a:rPr lang="en-US" sz="1450" dirty="0">
                <a:solidFill>
                  <a:srgbClr val="0E2E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Report:  "Appointments by Status" — grouped, with a chart.</a:t>
            </a:r>
            <a:endParaRPr lang="en-US" sz="1450" dirty="0"/>
          </a:p>
          <a:p>
            <a:pPr algn="l" marL="203200" indent="-203200">
              <a:spcAft>
                <a:spcPts val="1300"/>
              </a:spcAft>
              <a:buSzPct val="100000"/>
              <a:buChar char="•"/>
            </a:pPr>
            <a:r>
              <a:rPr lang="en-US" sz="1450" dirty="0">
                <a:solidFill>
                  <a:srgbClr val="0E2E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Dashboard:  "Appointments Dashboard" visualizing the data.</a:t>
            </a:r>
            <a:endParaRPr lang="en-US" sz="1450" dirty="0"/>
          </a:p>
          <a:p>
            <a:pPr algn="l" marL="203200" indent="-203200">
              <a:spcAft>
                <a:spcPts val="1300"/>
              </a:spcAft>
              <a:buSzPct val="100000"/>
              <a:buChar char="•"/>
            </a:pPr>
            <a:r>
              <a:rPr lang="en-US" sz="1450" dirty="0">
                <a:solidFill>
                  <a:srgbClr val="0E2E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Tracks Scheduled vs. Rescheduled vs. Cancelled at a glance.</a:t>
            </a:r>
            <a:endParaRPr lang="en-US" sz="1450" dirty="0"/>
          </a:p>
          <a:p>
            <a:pPr algn="l" marL="203200" indent="-203200">
              <a:buSzPct val="100000"/>
              <a:buChar char="•"/>
            </a:pPr>
            <a:r>
              <a:rPr lang="en-US" sz="1450" dirty="0">
                <a:solidFill>
                  <a:srgbClr val="0E2E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Supports data-driven operational decisions.</a:t>
            </a:r>
            <a:endParaRPr lang="en-US" sz="1450" dirty="0"/>
          </a:p>
        </p:txBody>
      </p:sp>
      <p:sp>
        <p:nvSpPr>
          <p:cNvPr id="11" name="Text 7"/>
          <p:cNvSpPr/>
          <p:nvPr/>
        </p:nvSpPr>
        <p:spPr>
          <a:xfrm>
            <a:off x="6995160" y="5257800"/>
            <a:ext cx="46177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50" i="1" dirty="0">
                <a:solidFill>
                  <a:srgbClr val="5B70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Chart reflects status transitions validated across the three test records.</a:t>
            </a:r>
            <a:endParaRPr lang="en-US" sz="1150" dirty="0"/>
          </a:p>
        </p:txBody>
      </p:sp>
      <p:sp>
        <p:nvSpPr>
          <p:cNvPr id="12" name="Text 8"/>
          <p:cNvSpPr/>
          <p:nvPr/>
        </p:nvSpPr>
        <p:spPr>
          <a:xfrm>
            <a:off x="548640" y="644652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B70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AI-Powered Appointment Management Assistant  ·  Salesforce Capstone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75488"/>
            <a:ext cx="585216" cy="585216"/>
          </a:xfrm>
          <a:prstGeom prst="ellipse">
            <a:avLst/>
          </a:prstGeom>
          <a:solidFill>
            <a:srgbClr val="028090"/>
          </a:solidFill>
          <a:ln/>
        </p:spPr>
        <p:txBody>
          <a:bodyPr/>
          <a:p/>
        </p:txBody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94944" y="621792"/>
            <a:ext cx="292608" cy="292608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335024" y="457200"/>
            <a:ext cx="1003096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E2E3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Agentforce — Honest Status</a:t>
            </a:r>
            <a:endParaRPr lang="en-US" sz="3000" dirty="0"/>
          </a:p>
        </p:txBody>
      </p:sp>
      <p:sp>
        <p:nvSpPr>
          <p:cNvPr id="5" name="Text 2"/>
          <p:cNvSpPr/>
          <p:nvPr/>
        </p:nvSpPr>
        <p:spPr>
          <a:xfrm>
            <a:off x="11183112" y="502920"/>
            <a:ext cx="4572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5B70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1300" dirty="0"/>
          </a:p>
        </p:txBody>
      </p:sp>
      <p:sp>
        <p:nvSpPr>
          <p:cNvPr id="6" name="Shape 3"/>
          <p:cNvSpPr/>
          <p:nvPr/>
        </p:nvSpPr>
        <p:spPr>
          <a:xfrm>
            <a:off x="548640" y="1261872"/>
            <a:ext cx="1005840" cy="0"/>
          </a:xfrm>
          <a:prstGeom prst="line">
            <a:avLst/>
          </a:prstGeom>
          <a:noFill/>
          <a:ln w="31750">
            <a:solidFill>
              <a:srgbClr val="02C39A"/>
            </a:solidFill>
            <a:prstDash val="solid"/>
          </a:ln>
        </p:spPr>
        <p:txBody>
          <a:bodyPr/>
          <a:p/>
        </p:txBody>
      </p:sp>
      <p:sp>
        <p:nvSpPr>
          <p:cNvPr id="7" name="Text 4"/>
          <p:cNvSpPr/>
          <p:nvPr/>
        </p:nvSpPr>
        <p:spPr>
          <a:xfrm>
            <a:off x="548640" y="1417320"/>
            <a:ext cx="110642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5B70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Agentforce was part of the architecture from day one. Activation was constrained by the org edition — here is exactly what happened and how it was handled.</a:t>
            </a:r>
            <a:endParaRPr lang="en-US" sz="1400" dirty="0"/>
          </a:p>
        </p:txBody>
      </p:sp>
      <p:sp>
        <p:nvSpPr>
          <p:cNvPr id="8" name="Shape 5"/>
          <p:cNvSpPr/>
          <p:nvPr/>
        </p:nvSpPr>
        <p:spPr>
          <a:xfrm>
            <a:off x="548640" y="2194560"/>
            <a:ext cx="5362956" cy="3566160"/>
          </a:xfrm>
          <a:prstGeom prst="roundRect">
            <a:avLst>
              <a:gd name="adj" fmla="val 3077"/>
            </a:avLst>
          </a:prstGeom>
          <a:solidFill>
            <a:srgbClr val="FFFFFF"/>
          </a:solidFill>
          <a:ln w="15875">
            <a:solidFill>
              <a:srgbClr val="D5E2E4"/>
            </a:solidFill>
            <a:prstDash val="solid"/>
          </a:ln>
        </p:spPr>
        <p:txBody>
          <a:bodyPr/>
          <a:p/>
        </p:txBody>
      </p:sp>
      <p:sp>
        <p:nvSpPr>
          <p:cNvPr id="9" name="Shape 6"/>
          <p:cNvSpPr/>
          <p:nvPr/>
        </p:nvSpPr>
        <p:spPr>
          <a:xfrm>
            <a:off x="548640" y="2194560"/>
            <a:ext cx="5362956" cy="640080"/>
          </a:xfrm>
          <a:prstGeom prst="roundRect">
            <a:avLst>
              <a:gd name="adj" fmla="val 17143"/>
            </a:avLst>
          </a:prstGeom>
          <a:solidFill>
            <a:srgbClr val="E0A02F"/>
          </a:solidFill>
          <a:ln/>
        </p:spPr>
        <p:txBody>
          <a:bodyPr/>
          <a:p/>
        </p:txBody>
      </p:sp>
      <p:sp>
        <p:nvSpPr>
          <p:cNvPr id="10" name="Text 7"/>
          <p:cNvSpPr/>
          <p:nvPr/>
        </p:nvSpPr>
        <p:spPr>
          <a:xfrm>
            <a:off x="822960" y="2194560"/>
            <a:ext cx="4814316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Constraint</a:t>
            </a:r>
            <a:endParaRPr lang="en-US" sz="1600" dirty="0"/>
          </a:p>
        </p:txBody>
      </p:sp>
      <p:sp>
        <p:nvSpPr>
          <p:cNvPr id="11" name="Text 8"/>
          <p:cNvSpPr/>
          <p:nvPr/>
        </p:nvSpPr>
        <p:spPr>
          <a:xfrm>
            <a:off x="822960" y="3063240"/>
            <a:ext cx="4814316" cy="2560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marL="203200" indent="-203200">
              <a:spcAft>
                <a:spcPts val="1200"/>
              </a:spcAft>
              <a:buSzPct val="100000"/>
              <a:buChar char="•"/>
            </a:pPr>
            <a:r>
              <a:rPr lang="en-US" sz="1400" dirty="0">
                <a:solidFill>
                  <a:srgbClr val="0E2E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Developer Edition org lacked the required tenant configuration and licensing.</a:t>
            </a:r>
            <a:endParaRPr lang="en-US" sz="1400" dirty="0"/>
          </a:p>
          <a:p>
            <a:pPr algn="l" marL="203200" indent="-203200">
              <a:spcAft>
                <a:spcPts val="1200"/>
              </a:spcAft>
              <a:buSzPct val="100000"/>
              <a:buChar char="•"/>
            </a:pPr>
            <a:r>
              <a:rPr lang="en-US" sz="1400" dirty="0">
                <a:solidFill>
                  <a:srgbClr val="0E2E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"Agentforce Agents" returned "No matching items found" in Setup.</a:t>
            </a:r>
            <a:endParaRPr lang="en-US" sz="1400" dirty="0"/>
          </a:p>
          <a:p>
            <a:pPr algn="l" marL="203200" indent="-203200">
              <a:buSzPct val="100000"/>
              <a:buChar char="•"/>
            </a:pPr>
            <a:r>
              <a:rPr lang="en-US" sz="1400" dirty="0">
                <a:solidFill>
                  <a:srgbClr val="0E2E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conversational agent could not be activated in this environment.</a:t>
            </a:r>
            <a:endParaRPr lang="en-US" sz="1400" dirty="0"/>
          </a:p>
        </p:txBody>
      </p:sp>
      <p:sp>
        <p:nvSpPr>
          <p:cNvPr id="12" name="Shape 9"/>
          <p:cNvSpPr/>
          <p:nvPr/>
        </p:nvSpPr>
        <p:spPr>
          <a:xfrm>
            <a:off x="6277356" y="2194560"/>
            <a:ext cx="5362956" cy="3566160"/>
          </a:xfrm>
          <a:prstGeom prst="roundRect">
            <a:avLst>
              <a:gd name="adj" fmla="val 3077"/>
            </a:avLst>
          </a:prstGeom>
          <a:solidFill>
            <a:srgbClr val="FFFFFF"/>
          </a:solidFill>
          <a:ln w="15875">
            <a:solidFill>
              <a:srgbClr val="D5E2E4"/>
            </a:solidFill>
            <a:prstDash val="solid"/>
          </a:ln>
        </p:spPr>
        <p:txBody>
          <a:bodyPr/>
          <a:p/>
        </p:txBody>
      </p:sp>
      <p:sp>
        <p:nvSpPr>
          <p:cNvPr id="13" name="Shape 10"/>
          <p:cNvSpPr/>
          <p:nvPr/>
        </p:nvSpPr>
        <p:spPr>
          <a:xfrm>
            <a:off x="6277356" y="2194560"/>
            <a:ext cx="5362956" cy="640080"/>
          </a:xfrm>
          <a:prstGeom prst="roundRect">
            <a:avLst>
              <a:gd name="adj" fmla="val 17143"/>
            </a:avLst>
          </a:prstGeom>
          <a:solidFill>
            <a:srgbClr val="00A896"/>
          </a:solidFill>
          <a:ln/>
        </p:spPr>
        <p:txBody>
          <a:bodyPr/>
          <a:p/>
        </p:txBody>
      </p:sp>
      <p:sp>
        <p:nvSpPr>
          <p:cNvPr id="14" name="Text 11"/>
          <p:cNvSpPr/>
          <p:nvPr/>
        </p:nvSpPr>
        <p:spPr>
          <a:xfrm>
            <a:off x="6551676" y="2194560"/>
            <a:ext cx="4814316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Mitigation</a:t>
            </a:r>
            <a:endParaRPr lang="en-US" sz="1600" dirty="0"/>
          </a:p>
        </p:txBody>
      </p:sp>
      <p:sp>
        <p:nvSpPr>
          <p:cNvPr id="15" name="Text 12"/>
          <p:cNvSpPr/>
          <p:nvPr/>
        </p:nvSpPr>
        <p:spPr>
          <a:xfrm>
            <a:off x="6551676" y="3063240"/>
            <a:ext cx="4814316" cy="2560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marL="203200" indent="-203200">
              <a:spcAft>
                <a:spcPts val="1200"/>
              </a:spcAft>
              <a:buSzPct val="100000"/>
              <a:buChar char="•"/>
            </a:pPr>
            <a:r>
              <a:rPr lang="en-US" sz="1400" dirty="0">
                <a:solidFill>
                  <a:srgbClr val="0E2E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Flows built as agent-ready actions: create, reschedule, cancel.</a:t>
            </a:r>
            <a:endParaRPr lang="en-US" sz="1400" dirty="0"/>
          </a:p>
          <a:p>
            <a:pPr algn="l" marL="203200" indent="-203200">
              <a:spcAft>
                <a:spcPts val="1200"/>
              </a:spcAft>
              <a:buSzPct val="100000"/>
              <a:buChar char="•"/>
            </a:pPr>
            <a:r>
              <a:rPr lang="en-US" sz="1400" dirty="0">
                <a:solidFill>
                  <a:srgbClr val="0E2E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Delivered a working Screen Flow AND an active Einstein Bot, both calling the same Flows.</a:t>
            </a:r>
            <a:endParaRPr lang="en-US" sz="1400" dirty="0"/>
          </a:p>
          <a:p>
            <a:pPr algn="l" marL="203200" indent="-203200">
              <a:buSzPct val="100000"/>
              <a:buChar char="•"/>
            </a:pPr>
            <a:r>
              <a:rPr lang="en-US" sz="1400" dirty="0">
                <a:solidFill>
                  <a:srgbClr val="0E2E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Integration path documented and ready once licensing is enabled.</a:t>
            </a:r>
            <a:endParaRPr lang="en-US" sz="1400" dirty="0"/>
          </a:p>
        </p:txBody>
      </p:sp>
      <p:sp>
        <p:nvSpPr>
          <p:cNvPr id="16" name="Text 13"/>
          <p:cNvSpPr/>
          <p:nvPr/>
        </p:nvSpPr>
        <p:spPr>
          <a:xfrm>
            <a:off x="548640" y="644652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B70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AI-Powered Appointment Management Assistant  ·  Salesforce Capstone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75488"/>
            <a:ext cx="585216" cy="585216"/>
          </a:xfrm>
          <a:prstGeom prst="ellipse">
            <a:avLst/>
          </a:prstGeom>
          <a:solidFill>
            <a:srgbClr val="028090"/>
          </a:solidFill>
          <a:ln/>
        </p:spPr>
        <p:txBody>
          <a:bodyPr/>
          <a:p/>
        </p:txBody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94944" y="621792"/>
            <a:ext cx="292608" cy="292608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335024" y="457200"/>
            <a:ext cx="1003096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E2E3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Testing &amp; Results</a:t>
            </a:r>
            <a:endParaRPr lang="en-US" sz="3000" dirty="0"/>
          </a:p>
        </p:txBody>
      </p:sp>
      <p:sp>
        <p:nvSpPr>
          <p:cNvPr id="5" name="Text 2"/>
          <p:cNvSpPr/>
          <p:nvPr/>
        </p:nvSpPr>
        <p:spPr>
          <a:xfrm>
            <a:off x="11183112" y="502920"/>
            <a:ext cx="4572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5B70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en-US" sz="1300" dirty="0"/>
          </a:p>
        </p:txBody>
      </p:sp>
      <p:sp>
        <p:nvSpPr>
          <p:cNvPr id="6" name="Shape 3"/>
          <p:cNvSpPr/>
          <p:nvPr/>
        </p:nvSpPr>
        <p:spPr>
          <a:xfrm>
            <a:off x="548640" y="1261872"/>
            <a:ext cx="1005840" cy="0"/>
          </a:xfrm>
          <a:prstGeom prst="line">
            <a:avLst/>
          </a:prstGeom>
          <a:noFill/>
          <a:ln w="31750">
            <a:solidFill>
              <a:srgbClr val="02C39A"/>
            </a:solidFill>
            <a:prstDash val="solid"/>
          </a:ln>
        </p:spPr>
        <p:txBody>
          <a:bodyPr/>
          <a:p/>
        </p:txBody>
      </p:sp>
      <p:sp>
        <p:nvSpPr>
          <p:cNvPr id="7" name="Shape 4"/>
          <p:cNvSpPr/>
          <p:nvPr/>
        </p:nvSpPr>
        <p:spPr>
          <a:xfrm>
            <a:off x="548640" y="1554480"/>
            <a:ext cx="3529584" cy="1600200"/>
          </a:xfrm>
          <a:prstGeom prst="roundRect">
            <a:avLst>
              <a:gd name="adj" fmla="val 6857"/>
            </a:avLst>
          </a:prstGeom>
          <a:solidFill>
            <a:srgbClr val="0E2E34"/>
          </a:solidFill>
          <a:ln/>
        </p:spPr>
        <p:txBody>
          <a:bodyPr/>
          <a:p/>
        </p:txBody>
      </p:sp>
      <p:sp>
        <p:nvSpPr>
          <p:cNvPr id="8" name="Text 5"/>
          <p:cNvSpPr/>
          <p:nvPr/>
        </p:nvSpPr>
        <p:spPr>
          <a:xfrm>
            <a:off x="548640" y="1691640"/>
            <a:ext cx="3529584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600" b="1" dirty="0">
                <a:solidFill>
                  <a:srgbClr val="02C39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4600" dirty="0"/>
          </a:p>
        </p:txBody>
      </p:sp>
      <p:sp>
        <p:nvSpPr>
          <p:cNvPr id="9" name="Text 6"/>
          <p:cNvSpPr/>
          <p:nvPr/>
        </p:nvSpPr>
        <p:spPr>
          <a:xfrm>
            <a:off x="731520" y="2578608"/>
            <a:ext cx="3163824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C9DB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 appointments booked</a:t>
            </a:r>
            <a:endParaRPr lang="en-US" sz="1300" dirty="0"/>
          </a:p>
        </p:txBody>
      </p:sp>
      <p:sp>
        <p:nvSpPr>
          <p:cNvPr id="10" name="Shape 7"/>
          <p:cNvSpPr/>
          <p:nvPr/>
        </p:nvSpPr>
        <p:spPr>
          <a:xfrm>
            <a:off x="4325112" y="1554480"/>
            <a:ext cx="3529584" cy="1600200"/>
          </a:xfrm>
          <a:prstGeom prst="roundRect">
            <a:avLst>
              <a:gd name="adj" fmla="val 6857"/>
            </a:avLst>
          </a:prstGeom>
          <a:solidFill>
            <a:srgbClr val="0E2E34"/>
          </a:solidFill>
          <a:ln/>
        </p:spPr>
        <p:txBody>
          <a:bodyPr/>
          <a:p/>
        </p:txBody>
      </p:sp>
      <p:sp>
        <p:nvSpPr>
          <p:cNvPr id="11" name="Text 8"/>
          <p:cNvSpPr/>
          <p:nvPr/>
        </p:nvSpPr>
        <p:spPr>
          <a:xfrm>
            <a:off x="4325112" y="1691640"/>
            <a:ext cx="3529584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600" b="1" dirty="0">
                <a:solidFill>
                  <a:srgbClr val="02C39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4600" dirty="0"/>
          </a:p>
        </p:txBody>
      </p:sp>
      <p:sp>
        <p:nvSpPr>
          <p:cNvPr id="12" name="Text 9"/>
          <p:cNvSpPr/>
          <p:nvPr/>
        </p:nvSpPr>
        <p:spPr>
          <a:xfrm>
            <a:off x="4507992" y="2578608"/>
            <a:ext cx="3163824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C9DB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Flows validated end-to-end</a:t>
            </a:r>
            <a:endParaRPr lang="en-US" sz="1300" dirty="0"/>
          </a:p>
        </p:txBody>
      </p:sp>
      <p:sp>
        <p:nvSpPr>
          <p:cNvPr id="13" name="Shape 10"/>
          <p:cNvSpPr/>
          <p:nvPr/>
        </p:nvSpPr>
        <p:spPr>
          <a:xfrm>
            <a:off x="8101584" y="1554480"/>
            <a:ext cx="3529584" cy="1600200"/>
          </a:xfrm>
          <a:prstGeom prst="roundRect">
            <a:avLst>
              <a:gd name="adj" fmla="val 6857"/>
            </a:avLst>
          </a:prstGeom>
          <a:solidFill>
            <a:srgbClr val="0E2E34"/>
          </a:solidFill>
          <a:ln/>
        </p:spPr>
        <p:txBody>
          <a:bodyPr/>
          <a:p/>
        </p:txBody>
      </p:sp>
      <p:sp>
        <p:nvSpPr>
          <p:cNvPr id="14" name="Text 11"/>
          <p:cNvSpPr/>
          <p:nvPr/>
        </p:nvSpPr>
        <p:spPr>
          <a:xfrm>
            <a:off x="8101584" y="1691640"/>
            <a:ext cx="3529584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600" b="1" dirty="0">
                <a:solidFill>
                  <a:srgbClr val="02C39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100%</a:t>
            </a:r>
            <a:endParaRPr lang="en-US" sz="4600" dirty="0"/>
          </a:p>
        </p:txBody>
      </p:sp>
      <p:sp>
        <p:nvSpPr>
          <p:cNvPr id="15" name="Text 12"/>
          <p:cNvSpPr/>
          <p:nvPr/>
        </p:nvSpPr>
        <p:spPr>
          <a:xfrm>
            <a:off x="8284464" y="2578608"/>
            <a:ext cx="3163824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C9DB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Core components Active</a:t>
            </a:r>
            <a:endParaRPr lang="en-US" sz="1300" dirty="0"/>
          </a:p>
        </p:txBody>
      </p:sp>
      <p:sp>
        <p:nvSpPr>
          <p:cNvPr id="16" name="Text 13"/>
          <p:cNvSpPr/>
          <p:nvPr/>
        </p:nvSpPr>
        <p:spPr>
          <a:xfrm>
            <a:off x="548640" y="342900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0E2E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Records created &amp; verified:</a:t>
            </a:r>
            <a:endParaRPr lang="en-US" sz="1400" dirty="0"/>
          </a:p>
        </p:txBody>
      </p:sp>
      <p:sp>
        <p:nvSpPr>
          <p:cNvPr id="17" name="Shape 14"/>
          <p:cNvSpPr/>
          <p:nvPr/>
        </p:nvSpPr>
        <p:spPr>
          <a:xfrm>
            <a:off x="3657600" y="3401568"/>
            <a:ext cx="1463040" cy="420624"/>
          </a:xfrm>
          <a:prstGeom prst="roundRect">
            <a:avLst>
              <a:gd name="adj" fmla="val 50000"/>
            </a:avLst>
          </a:prstGeom>
          <a:solidFill>
            <a:srgbClr val="E8F1F2"/>
          </a:solidFill>
          <a:ln w="12700">
            <a:solidFill>
              <a:srgbClr val="028090"/>
            </a:solidFill>
            <a:prstDash val="solid"/>
          </a:ln>
        </p:spPr>
        <p:txBody>
          <a:bodyPr/>
          <a:p/>
        </p:txBody>
      </p:sp>
      <p:sp>
        <p:nvSpPr>
          <p:cNvPr id="18" name="Text 15"/>
          <p:cNvSpPr/>
          <p:nvPr/>
        </p:nvSpPr>
        <p:spPr>
          <a:xfrm>
            <a:off x="3657600" y="3401568"/>
            <a:ext cx="146304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2809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APT-00001</a:t>
            </a:r>
            <a:endParaRPr lang="en-US" sz="1200" dirty="0"/>
          </a:p>
        </p:txBody>
      </p:sp>
      <p:sp>
        <p:nvSpPr>
          <p:cNvPr id="19" name="Shape 16"/>
          <p:cNvSpPr/>
          <p:nvPr/>
        </p:nvSpPr>
        <p:spPr>
          <a:xfrm>
            <a:off x="5257800" y="3401568"/>
            <a:ext cx="1463040" cy="420624"/>
          </a:xfrm>
          <a:prstGeom prst="roundRect">
            <a:avLst>
              <a:gd name="adj" fmla="val 50000"/>
            </a:avLst>
          </a:prstGeom>
          <a:solidFill>
            <a:srgbClr val="E8F1F2"/>
          </a:solidFill>
          <a:ln w="12700">
            <a:solidFill>
              <a:srgbClr val="028090"/>
            </a:solidFill>
            <a:prstDash val="solid"/>
          </a:ln>
        </p:spPr>
        <p:txBody>
          <a:bodyPr/>
          <a:p/>
        </p:txBody>
      </p:sp>
      <p:sp>
        <p:nvSpPr>
          <p:cNvPr id="20" name="Text 17"/>
          <p:cNvSpPr/>
          <p:nvPr/>
        </p:nvSpPr>
        <p:spPr>
          <a:xfrm>
            <a:off x="5257800" y="3401568"/>
            <a:ext cx="146304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2809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APT-00002</a:t>
            </a:r>
            <a:endParaRPr lang="en-US" sz="1200" dirty="0"/>
          </a:p>
        </p:txBody>
      </p:sp>
      <p:sp>
        <p:nvSpPr>
          <p:cNvPr id="21" name="Shape 18"/>
          <p:cNvSpPr/>
          <p:nvPr/>
        </p:nvSpPr>
        <p:spPr>
          <a:xfrm>
            <a:off x="6858000" y="3401568"/>
            <a:ext cx="1463040" cy="420624"/>
          </a:xfrm>
          <a:prstGeom prst="roundRect">
            <a:avLst>
              <a:gd name="adj" fmla="val 50000"/>
            </a:avLst>
          </a:prstGeom>
          <a:solidFill>
            <a:srgbClr val="E8F1F2"/>
          </a:solidFill>
          <a:ln w="12700">
            <a:solidFill>
              <a:srgbClr val="028090"/>
            </a:solidFill>
            <a:prstDash val="solid"/>
          </a:ln>
        </p:spPr>
        <p:txBody>
          <a:bodyPr/>
          <a:p/>
        </p:txBody>
      </p:sp>
      <p:sp>
        <p:nvSpPr>
          <p:cNvPr id="22" name="Text 19"/>
          <p:cNvSpPr/>
          <p:nvPr/>
        </p:nvSpPr>
        <p:spPr>
          <a:xfrm>
            <a:off x="6858000" y="3401568"/>
            <a:ext cx="146304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2809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APT-00003</a:t>
            </a:r>
            <a:endParaRPr lang="en-US" sz="1200" dirty="0"/>
          </a:p>
        </p:txBody>
      </p:sp>
      <p:sp>
        <p:nvSpPr>
          <p:cNvPr id="23" name="Shape 20"/>
          <p:cNvSpPr/>
          <p:nvPr/>
        </p:nvSpPr>
        <p:spPr>
          <a:xfrm>
            <a:off x="548640" y="4023360"/>
            <a:ext cx="11091672" cy="1874520"/>
          </a:xfrm>
          <a:prstGeom prst="roundRect">
            <a:avLst>
              <a:gd name="adj" fmla="val 4878"/>
            </a:avLst>
          </a:prstGeom>
          <a:solidFill>
            <a:srgbClr val="F1F6F7"/>
          </a:solidFill>
          <a:ln w="12700">
            <a:solidFill>
              <a:srgbClr val="D5E2E4"/>
            </a:solidFill>
            <a:prstDash val="solid"/>
          </a:ln>
        </p:spPr>
        <p:txBody>
          <a:bodyPr/>
          <a:p/>
        </p:txBody>
      </p:sp>
      <p:sp>
        <p:nvSpPr>
          <p:cNvPr id="24" name="Text 21"/>
          <p:cNvSpPr/>
          <p:nvPr/>
        </p:nvSpPr>
        <p:spPr>
          <a:xfrm>
            <a:off x="868680" y="4206240"/>
            <a:ext cx="10424160" cy="1554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marL="203200" indent="-2032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0E2E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model, Flows, Screen Flow, App and Reports all built and Active.</a:t>
            </a:r>
            <a:endParaRPr lang="en-US" sz="1400" dirty="0"/>
          </a:p>
          <a:p>
            <a:pPr algn="l" marL="203200" indent="-2032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0E2E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Create / Reschedule / Cancel logic validated on real records.</a:t>
            </a:r>
            <a:endParaRPr lang="en-US" sz="1400" dirty="0"/>
          </a:p>
          <a:p>
            <a:pPr algn="l" marL="203200" indent="-2032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0E2E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Status transitions confirmed:  Scheduled → Rescheduled / Cancelled.</a:t>
            </a:r>
            <a:endParaRPr lang="en-US" sz="1400" dirty="0"/>
          </a:p>
          <a:p>
            <a:pPr algn="l" marL="203200" indent="-203200">
              <a:buSzPct val="100000"/>
              <a:buChar char="•"/>
            </a:pPr>
            <a:r>
              <a:rPr lang="en-US" sz="1400" dirty="0">
                <a:solidFill>
                  <a:srgbClr val="0E2E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Reports and Dashboard reflect real appointment data accurately.</a:t>
            </a:r>
            <a:endParaRPr lang="en-US" sz="1400" dirty="0"/>
          </a:p>
        </p:txBody>
      </p:sp>
      <p:sp>
        <p:nvSpPr>
          <p:cNvPr id="25" name="Text 22"/>
          <p:cNvSpPr/>
          <p:nvPr/>
        </p:nvSpPr>
        <p:spPr>
          <a:xfrm>
            <a:off x="548640" y="644652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B70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AI-Powered Appointment Management Assistant  ·  Salesforce Capstone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75488"/>
            <a:ext cx="585216" cy="585216"/>
          </a:xfrm>
          <a:prstGeom prst="ellipse">
            <a:avLst/>
          </a:prstGeom>
          <a:solidFill>
            <a:srgbClr val="028090"/>
          </a:solidFill>
          <a:ln/>
        </p:spPr>
        <p:txBody>
          <a:bodyPr/>
          <a:p/>
        </p:txBody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94944" y="621792"/>
            <a:ext cx="292608" cy="292608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335024" y="457200"/>
            <a:ext cx="1003096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E2E3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Challenges &amp; Lessons Learned</a:t>
            </a:r>
            <a:endParaRPr lang="en-US" sz="3000" dirty="0"/>
          </a:p>
        </p:txBody>
      </p:sp>
      <p:sp>
        <p:nvSpPr>
          <p:cNvPr id="5" name="Text 2"/>
          <p:cNvSpPr/>
          <p:nvPr/>
        </p:nvSpPr>
        <p:spPr>
          <a:xfrm>
            <a:off x="11183112" y="502920"/>
            <a:ext cx="4572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5B70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</a:t>
            </a:r>
            <a:endParaRPr lang="en-US" sz="1300" dirty="0"/>
          </a:p>
        </p:txBody>
      </p:sp>
      <p:sp>
        <p:nvSpPr>
          <p:cNvPr id="6" name="Shape 3"/>
          <p:cNvSpPr/>
          <p:nvPr/>
        </p:nvSpPr>
        <p:spPr>
          <a:xfrm>
            <a:off x="548640" y="1261872"/>
            <a:ext cx="1005840" cy="0"/>
          </a:xfrm>
          <a:prstGeom prst="line">
            <a:avLst/>
          </a:prstGeom>
          <a:noFill/>
          <a:ln w="31750">
            <a:solidFill>
              <a:srgbClr val="02C39A"/>
            </a:solidFill>
            <a:prstDash val="solid"/>
          </a:ln>
        </p:spPr>
        <p:txBody>
          <a:bodyPr/>
          <a:p/>
        </p:txBody>
      </p:sp>
      <p:sp>
        <p:nvSpPr>
          <p:cNvPr id="7" name="Shape 4"/>
          <p:cNvSpPr/>
          <p:nvPr/>
        </p:nvSpPr>
        <p:spPr>
          <a:xfrm>
            <a:off x="548640" y="1600200"/>
            <a:ext cx="11091672" cy="786384"/>
          </a:xfrm>
          <a:prstGeom prst="roundRect">
            <a:avLst>
              <a:gd name="adj" fmla="val 11628"/>
            </a:avLst>
          </a:prstGeom>
          <a:solidFill>
            <a:srgbClr val="FFFFFF"/>
          </a:solidFill>
          <a:ln w="12700">
            <a:solidFill>
              <a:srgbClr val="D5E2E4"/>
            </a:solidFill>
            <a:prstDash val="solid"/>
          </a:ln>
        </p:spPr>
        <p:txBody>
          <a:bodyPr/>
          <a:p/>
        </p:txBody>
      </p:sp>
      <p:sp>
        <p:nvSpPr>
          <p:cNvPr id="8" name="Shape 5"/>
          <p:cNvSpPr/>
          <p:nvPr/>
        </p:nvSpPr>
        <p:spPr>
          <a:xfrm>
            <a:off x="804672" y="1764792"/>
            <a:ext cx="457200" cy="457200"/>
          </a:xfrm>
          <a:prstGeom prst="ellipse">
            <a:avLst/>
          </a:prstGeom>
          <a:solidFill>
            <a:srgbClr val="028090"/>
          </a:solidFill>
          <a:ln/>
        </p:spPr>
        <p:txBody>
          <a:bodyPr/>
          <a:p/>
        </p:txBody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4672" y="1764792"/>
            <a:ext cx="457200" cy="457200"/>
          </a:xfrm>
          <a:prstGeom prst="rect">
            <a:avLst/>
          </a:prstGeom>
        </p:spPr>
      </p:pic>
      <p:sp>
        <p:nvSpPr>
          <p:cNvPr id="10" name="Text 6"/>
          <p:cNvSpPr/>
          <p:nvPr/>
        </p:nvSpPr>
        <p:spPr>
          <a:xfrm>
            <a:off x="1508760" y="1600200"/>
            <a:ext cx="9966960" cy="7863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50" dirty="0">
                <a:solidFill>
                  <a:srgbClr val="0E2E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Developer Edition licensing blocked Agentforce activation.</a:t>
            </a:r>
            <a:endParaRPr lang="en-US" sz="1450" dirty="0"/>
          </a:p>
        </p:txBody>
      </p:sp>
      <p:sp>
        <p:nvSpPr>
          <p:cNvPr id="11" name="Shape 7"/>
          <p:cNvSpPr/>
          <p:nvPr/>
        </p:nvSpPr>
        <p:spPr>
          <a:xfrm>
            <a:off x="548640" y="2532888"/>
            <a:ext cx="11091672" cy="786384"/>
          </a:xfrm>
          <a:prstGeom prst="roundRect">
            <a:avLst>
              <a:gd name="adj" fmla="val 11628"/>
            </a:avLst>
          </a:prstGeom>
          <a:solidFill>
            <a:srgbClr val="F1F6F7"/>
          </a:solidFill>
          <a:ln w="12700">
            <a:solidFill>
              <a:srgbClr val="D5E2E4"/>
            </a:solidFill>
            <a:prstDash val="solid"/>
          </a:ln>
        </p:spPr>
        <p:txBody>
          <a:bodyPr/>
          <a:p/>
        </p:txBody>
      </p:sp>
      <p:sp>
        <p:nvSpPr>
          <p:cNvPr id="12" name="Shape 8"/>
          <p:cNvSpPr/>
          <p:nvPr/>
        </p:nvSpPr>
        <p:spPr>
          <a:xfrm>
            <a:off x="804672" y="2697480"/>
            <a:ext cx="457200" cy="457200"/>
          </a:xfrm>
          <a:prstGeom prst="ellipse">
            <a:avLst/>
          </a:prstGeom>
          <a:solidFill>
            <a:srgbClr val="028090"/>
          </a:solidFill>
          <a:ln/>
        </p:spPr>
        <p:txBody>
          <a:bodyPr/>
          <a:p/>
        </p:txBody>
      </p:sp>
      <p:pic>
        <p:nvPicPr>
          <p:cNvPr id="1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4672" y="2697480"/>
            <a:ext cx="457200" cy="457200"/>
          </a:xfrm>
          <a:prstGeom prst="rect">
            <a:avLst/>
          </a:prstGeom>
        </p:spPr>
      </p:pic>
      <p:sp>
        <p:nvSpPr>
          <p:cNvPr id="14" name="Text 9"/>
          <p:cNvSpPr/>
          <p:nvPr/>
        </p:nvSpPr>
        <p:spPr>
          <a:xfrm>
            <a:off x="1508760" y="2532888"/>
            <a:ext cx="9966960" cy="7863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50" dirty="0">
                <a:solidFill>
                  <a:srgbClr val="0E2E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Designing decoupled, reusable automation lets one Flow serve both UI and AI.</a:t>
            </a:r>
            <a:endParaRPr lang="en-US" sz="1450" dirty="0"/>
          </a:p>
        </p:txBody>
      </p:sp>
      <p:sp>
        <p:nvSpPr>
          <p:cNvPr id="15" name="Shape 10"/>
          <p:cNvSpPr/>
          <p:nvPr/>
        </p:nvSpPr>
        <p:spPr>
          <a:xfrm>
            <a:off x="548640" y="3465576"/>
            <a:ext cx="11091672" cy="786384"/>
          </a:xfrm>
          <a:prstGeom prst="roundRect">
            <a:avLst>
              <a:gd name="adj" fmla="val 11628"/>
            </a:avLst>
          </a:prstGeom>
          <a:solidFill>
            <a:srgbClr val="FFFFFF"/>
          </a:solidFill>
          <a:ln w="12700">
            <a:solidFill>
              <a:srgbClr val="D5E2E4"/>
            </a:solidFill>
            <a:prstDash val="solid"/>
          </a:ln>
        </p:spPr>
        <p:txBody>
          <a:bodyPr/>
          <a:p/>
        </p:txBody>
      </p:sp>
      <p:sp>
        <p:nvSpPr>
          <p:cNvPr id="16" name="Shape 11"/>
          <p:cNvSpPr/>
          <p:nvPr/>
        </p:nvSpPr>
        <p:spPr>
          <a:xfrm>
            <a:off x="804672" y="3630168"/>
            <a:ext cx="457200" cy="457200"/>
          </a:xfrm>
          <a:prstGeom prst="ellipse">
            <a:avLst/>
          </a:prstGeom>
          <a:solidFill>
            <a:srgbClr val="028090"/>
          </a:solidFill>
          <a:ln/>
        </p:spPr>
        <p:txBody>
          <a:bodyPr/>
          <a:p/>
        </p:txBody>
      </p:sp>
      <p:pic>
        <p:nvPicPr>
          <p:cNvPr id="17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04672" y="3630168"/>
            <a:ext cx="457200" cy="457200"/>
          </a:xfrm>
          <a:prstGeom prst="rect">
            <a:avLst/>
          </a:prstGeom>
        </p:spPr>
      </p:pic>
      <p:sp>
        <p:nvSpPr>
          <p:cNvPr id="18" name="Text 12"/>
          <p:cNvSpPr/>
          <p:nvPr/>
        </p:nvSpPr>
        <p:spPr>
          <a:xfrm>
            <a:off x="1508760" y="3465576"/>
            <a:ext cx="9966960" cy="7863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50" dirty="0">
                <a:solidFill>
                  <a:srgbClr val="0E2E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working alternatives — Screen Flow and an active Einstein Bot — kept the project functional and on schedule.</a:t>
            </a:r>
            <a:endParaRPr lang="en-US" sz="1450" dirty="0"/>
          </a:p>
        </p:txBody>
      </p:sp>
      <p:sp>
        <p:nvSpPr>
          <p:cNvPr id="19" name="Shape 13"/>
          <p:cNvSpPr/>
          <p:nvPr/>
        </p:nvSpPr>
        <p:spPr>
          <a:xfrm>
            <a:off x="548640" y="4398264"/>
            <a:ext cx="11091672" cy="786384"/>
          </a:xfrm>
          <a:prstGeom prst="roundRect">
            <a:avLst>
              <a:gd name="adj" fmla="val 11628"/>
            </a:avLst>
          </a:prstGeom>
          <a:solidFill>
            <a:srgbClr val="F1F6F7"/>
          </a:solidFill>
          <a:ln w="12700">
            <a:solidFill>
              <a:srgbClr val="D5E2E4"/>
            </a:solidFill>
            <a:prstDash val="solid"/>
          </a:ln>
        </p:spPr>
        <p:txBody>
          <a:bodyPr/>
          <a:p/>
        </p:txBody>
      </p:sp>
      <p:sp>
        <p:nvSpPr>
          <p:cNvPr id="20" name="Shape 14"/>
          <p:cNvSpPr/>
          <p:nvPr/>
        </p:nvSpPr>
        <p:spPr>
          <a:xfrm>
            <a:off x="804672" y="4562856"/>
            <a:ext cx="457200" cy="457200"/>
          </a:xfrm>
          <a:prstGeom prst="ellipse">
            <a:avLst/>
          </a:prstGeom>
          <a:solidFill>
            <a:srgbClr val="028090"/>
          </a:solidFill>
          <a:ln/>
        </p:spPr>
        <p:txBody>
          <a:bodyPr/>
          <a:p/>
        </p:txBody>
      </p:sp>
      <p:pic>
        <p:nvPicPr>
          <p:cNvPr id="21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04672" y="4562856"/>
            <a:ext cx="457200" cy="457200"/>
          </a:xfrm>
          <a:prstGeom prst="rect">
            <a:avLst/>
          </a:prstGeom>
        </p:spPr>
      </p:pic>
      <p:sp>
        <p:nvSpPr>
          <p:cNvPr id="22" name="Text 15"/>
          <p:cNvSpPr/>
          <p:nvPr/>
        </p:nvSpPr>
        <p:spPr>
          <a:xfrm>
            <a:off x="1508760" y="4398264"/>
            <a:ext cx="9966960" cy="7863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50" dirty="0">
                <a:solidFill>
                  <a:srgbClr val="0E2E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Gained hands-on skills in data modeling, Flows, and Lightning App Builder.</a:t>
            </a:r>
            <a:endParaRPr lang="en-US" sz="1450" dirty="0"/>
          </a:p>
        </p:txBody>
      </p:sp>
      <p:sp>
        <p:nvSpPr>
          <p:cNvPr id="23" name="Shape 16"/>
          <p:cNvSpPr/>
          <p:nvPr/>
        </p:nvSpPr>
        <p:spPr>
          <a:xfrm>
            <a:off x="548640" y="5330952"/>
            <a:ext cx="11091672" cy="786384"/>
          </a:xfrm>
          <a:prstGeom prst="roundRect">
            <a:avLst>
              <a:gd name="adj" fmla="val 11628"/>
            </a:avLst>
          </a:prstGeom>
          <a:solidFill>
            <a:srgbClr val="FFFFFF"/>
          </a:solidFill>
          <a:ln w="12700">
            <a:solidFill>
              <a:srgbClr val="D5E2E4"/>
            </a:solidFill>
            <a:prstDash val="solid"/>
          </a:ln>
        </p:spPr>
        <p:txBody>
          <a:bodyPr/>
          <a:p/>
        </p:txBody>
      </p:sp>
      <p:sp>
        <p:nvSpPr>
          <p:cNvPr id="24" name="Shape 17"/>
          <p:cNvSpPr/>
          <p:nvPr/>
        </p:nvSpPr>
        <p:spPr>
          <a:xfrm>
            <a:off x="804672" y="5495544"/>
            <a:ext cx="457200" cy="457200"/>
          </a:xfrm>
          <a:prstGeom prst="ellipse">
            <a:avLst/>
          </a:prstGeom>
          <a:solidFill>
            <a:srgbClr val="028090"/>
          </a:solidFill>
          <a:ln/>
        </p:spPr>
        <p:txBody>
          <a:bodyPr/>
          <a:p/>
        </p:txBody>
      </p:sp>
      <p:pic>
        <p:nvPicPr>
          <p:cNvPr id="25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04672" y="5495544"/>
            <a:ext cx="457200" cy="457200"/>
          </a:xfrm>
          <a:prstGeom prst="rect">
            <a:avLst/>
          </a:prstGeom>
        </p:spPr>
      </p:pic>
      <p:sp>
        <p:nvSpPr>
          <p:cNvPr id="26" name="Text 18"/>
          <p:cNvSpPr/>
          <p:nvPr/>
        </p:nvSpPr>
        <p:spPr>
          <a:xfrm>
            <a:off x="1508760" y="5330952"/>
            <a:ext cx="9966960" cy="7863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50" dirty="0">
                <a:solidFill>
                  <a:srgbClr val="0E2E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Reinforced the value of honest scoping and mitigation planning.</a:t>
            </a:r>
            <a:endParaRPr lang="en-US" sz="1450" dirty="0"/>
          </a:p>
        </p:txBody>
      </p:sp>
      <p:sp>
        <p:nvSpPr>
          <p:cNvPr id="27" name="Text 19"/>
          <p:cNvSpPr/>
          <p:nvPr/>
        </p:nvSpPr>
        <p:spPr>
          <a:xfrm>
            <a:off x="548640" y="644652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B70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AI-Powered Appointment Management Assistant  ·  Salesforce Capstone</a:t>
            </a:r>
            <a:endParaRPr lang="en-US" sz="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0E2E3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463040" y="4206240"/>
            <a:ext cx="4206240" cy="4206240"/>
          </a:xfrm>
          <a:prstGeom prst="ellipse">
            <a:avLst/>
          </a:prstGeom>
          <a:solidFill>
            <a:srgbClr val="12474F"/>
          </a:solidFill>
          <a:ln/>
        </p:spPr>
        <p:txBody>
          <a:bodyPr/>
          <a:p/>
        </p:txBody>
      </p:sp>
      <p:sp>
        <p:nvSpPr>
          <p:cNvPr id="3" name="Shape 1"/>
          <p:cNvSpPr/>
          <p:nvPr/>
        </p:nvSpPr>
        <p:spPr>
          <a:xfrm>
            <a:off x="548640" y="640080"/>
            <a:ext cx="822960" cy="822960"/>
          </a:xfrm>
          <a:prstGeom prst="roundRect">
            <a:avLst>
              <a:gd name="adj" fmla="val 15556"/>
            </a:avLst>
          </a:prstGeom>
          <a:solidFill>
            <a:srgbClr val="028090"/>
          </a:solidFill>
          <a:ln/>
        </p:spPr>
        <p:txBody>
          <a:bodyPr/>
          <a:p/>
        </p:txBody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68096" y="859536"/>
            <a:ext cx="384048" cy="384048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1554480" y="640080"/>
            <a:ext cx="73152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Conclusion</a:t>
            </a:r>
            <a:endParaRPr lang="en-US" sz="3400" dirty="0"/>
          </a:p>
        </p:txBody>
      </p:sp>
      <p:sp>
        <p:nvSpPr>
          <p:cNvPr id="6" name="Text 3"/>
          <p:cNvSpPr/>
          <p:nvPr/>
        </p:nvSpPr>
        <p:spPr>
          <a:xfrm>
            <a:off x="548640" y="1828800"/>
            <a:ext cx="5852160" cy="3108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marL="203200" indent="-203200">
              <a:spcAft>
                <a:spcPts val="1300"/>
              </a:spcAft>
              <a:buSzPct val="100000"/>
              <a:buChar char="•"/>
            </a:pPr>
            <a:r>
              <a:rPr lang="en-US" sz="1500" dirty="0">
                <a:solidFill>
                  <a:srgbClr val="D7E6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Delivered a functional appointment management solution on Salesforce.</a:t>
            </a:r>
            <a:endParaRPr lang="en-US" sz="1500" dirty="0"/>
          </a:p>
          <a:p>
            <a:pPr algn="l" marL="203200" indent="-203200">
              <a:spcAft>
                <a:spcPts val="1300"/>
              </a:spcAft>
              <a:buSzPct val="100000"/>
              <a:buChar char="•"/>
            </a:pPr>
            <a:r>
              <a:rPr lang="en-US" sz="1500" dirty="0">
                <a:solidFill>
                  <a:srgbClr val="D7E6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Core scheduling workflows automated end-to-end.</a:t>
            </a:r>
            <a:endParaRPr lang="en-US" sz="1500" dirty="0"/>
          </a:p>
          <a:p>
            <a:pPr algn="l" marL="203200" indent="-203200">
              <a:spcAft>
                <a:spcPts val="1300"/>
              </a:spcAft>
              <a:buSzPct val="100000"/>
              <a:buChar char="•"/>
            </a:pPr>
            <a:r>
              <a:rPr lang="en-US" sz="1500" dirty="0">
                <a:solidFill>
                  <a:srgbClr val="D7E6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Admin app and reporting provide full operational visibility.</a:t>
            </a:r>
            <a:endParaRPr lang="en-US" sz="1500" dirty="0"/>
          </a:p>
          <a:p>
            <a:pPr algn="l" marL="203200" indent="-203200">
              <a:buSzPct val="100000"/>
              <a:buChar char="•"/>
            </a:pPr>
            <a:r>
              <a:rPr lang="en-US" sz="1500" dirty="0">
                <a:solidFill>
                  <a:srgbClr val="D7E6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AI-agent integration is architected and ready for activation.</a:t>
            </a:r>
            <a:endParaRPr lang="en-US" sz="1500" dirty="0"/>
          </a:p>
        </p:txBody>
      </p:sp>
      <p:sp>
        <p:nvSpPr>
          <p:cNvPr id="7" name="Shape 4"/>
          <p:cNvSpPr/>
          <p:nvPr/>
        </p:nvSpPr>
        <p:spPr>
          <a:xfrm>
            <a:off x="6720840" y="1783080"/>
            <a:ext cx="4919472" cy="3840480"/>
          </a:xfrm>
          <a:prstGeom prst="roundRect">
            <a:avLst>
              <a:gd name="adj" fmla="val 3333"/>
            </a:avLst>
          </a:prstGeom>
          <a:solidFill>
            <a:srgbClr val="12474F"/>
          </a:solidFill>
          <a:ln w="15875">
            <a:solidFill>
              <a:srgbClr val="028090"/>
            </a:solidFill>
            <a:prstDash val="solid"/>
          </a:ln>
        </p:spPr>
        <p:txBody>
          <a:bodyPr/>
          <a:p/>
        </p:txBody>
      </p:sp>
      <p:sp>
        <p:nvSpPr>
          <p:cNvPr id="8" name="Text 5"/>
          <p:cNvSpPr/>
          <p:nvPr/>
        </p:nvSpPr>
        <p:spPr>
          <a:xfrm>
            <a:off x="7086600" y="2011680"/>
            <a:ext cx="4114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02C39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Live Demo</a:t>
            </a:r>
            <a:endParaRPr lang="en-US" sz="2000" dirty="0"/>
          </a:p>
        </p:txBody>
      </p:sp>
      <p:sp>
        <p:nvSpPr>
          <p:cNvPr id="9" name="Shape 6"/>
          <p:cNvSpPr/>
          <p:nvPr/>
        </p:nvSpPr>
        <p:spPr>
          <a:xfrm>
            <a:off x="7086600" y="2743200"/>
            <a:ext cx="457200" cy="457200"/>
          </a:xfrm>
          <a:prstGeom prst="ellipse">
            <a:avLst/>
          </a:prstGeom>
          <a:solidFill>
            <a:srgbClr val="028090"/>
          </a:solidFill>
          <a:ln/>
        </p:spPr>
        <p:txBody>
          <a:bodyPr/>
          <a:p/>
        </p:txBody>
      </p:sp>
      <p:sp>
        <p:nvSpPr>
          <p:cNvPr id="10" name="Text 7"/>
          <p:cNvSpPr/>
          <p:nvPr/>
        </p:nvSpPr>
        <p:spPr>
          <a:xfrm>
            <a:off x="7086600" y="274320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500" dirty="0"/>
          </a:p>
        </p:txBody>
      </p:sp>
      <p:sp>
        <p:nvSpPr>
          <p:cNvPr id="11" name="Text 8"/>
          <p:cNvSpPr/>
          <p:nvPr/>
        </p:nvSpPr>
        <p:spPr>
          <a:xfrm>
            <a:off x="7680960" y="2743200"/>
            <a:ext cx="35661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Book an appointment</a:t>
            </a:r>
            <a:endParaRPr lang="en-US" sz="1500" dirty="0"/>
          </a:p>
        </p:txBody>
      </p:sp>
      <p:sp>
        <p:nvSpPr>
          <p:cNvPr id="12" name="Shape 9"/>
          <p:cNvSpPr/>
          <p:nvPr/>
        </p:nvSpPr>
        <p:spPr>
          <a:xfrm>
            <a:off x="7086600" y="3401568"/>
            <a:ext cx="457200" cy="457200"/>
          </a:xfrm>
          <a:prstGeom prst="ellipse">
            <a:avLst/>
          </a:prstGeom>
          <a:solidFill>
            <a:srgbClr val="028090"/>
          </a:solidFill>
          <a:ln/>
        </p:spPr>
        <p:txBody>
          <a:bodyPr/>
          <a:p/>
        </p:txBody>
      </p:sp>
      <p:sp>
        <p:nvSpPr>
          <p:cNvPr id="13" name="Text 10"/>
          <p:cNvSpPr/>
          <p:nvPr/>
        </p:nvSpPr>
        <p:spPr>
          <a:xfrm>
            <a:off x="7086600" y="3401568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500" dirty="0"/>
          </a:p>
        </p:txBody>
      </p:sp>
      <p:sp>
        <p:nvSpPr>
          <p:cNvPr id="14" name="Text 11"/>
          <p:cNvSpPr/>
          <p:nvPr/>
        </p:nvSpPr>
        <p:spPr>
          <a:xfrm>
            <a:off x="7680960" y="3401568"/>
            <a:ext cx="35661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Reschedule it</a:t>
            </a:r>
            <a:endParaRPr lang="en-US" sz="1500" dirty="0"/>
          </a:p>
        </p:txBody>
      </p:sp>
      <p:sp>
        <p:nvSpPr>
          <p:cNvPr id="15" name="Shape 12"/>
          <p:cNvSpPr/>
          <p:nvPr/>
        </p:nvSpPr>
        <p:spPr>
          <a:xfrm>
            <a:off x="7086600" y="4059936"/>
            <a:ext cx="457200" cy="457200"/>
          </a:xfrm>
          <a:prstGeom prst="ellipse">
            <a:avLst/>
          </a:prstGeom>
          <a:solidFill>
            <a:srgbClr val="028090"/>
          </a:solidFill>
          <a:ln/>
        </p:spPr>
        <p:txBody>
          <a:bodyPr/>
          <a:p/>
        </p:txBody>
      </p:sp>
      <p:sp>
        <p:nvSpPr>
          <p:cNvPr id="16" name="Text 13"/>
          <p:cNvSpPr/>
          <p:nvPr/>
        </p:nvSpPr>
        <p:spPr>
          <a:xfrm>
            <a:off x="7086600" y="4059936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500" dirty="0"/>
          </a:p>
        </p:txBody>
      </p:sp>
      <p:sp>
        <p:nvSpPr>
          <p:cNvPr id="17" name="Text 14"/>
          <p:cNvSpPr/>
          <p:nvPr/>
        </p:nvSpPr>
        <p:spPr>
          <a:xfrm>
            <a:off x="7680960" y="4059936"/>
            <a:ext cx="35661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Cancel it</a:t>
            </a:r>
            <a:endParaRPr lang="en-US" sz="1500" dirty="0"/>
          </a:p>
        </p:txBody>
      </p:sp>
      <p:sp>
        <p:nvSpPr>
          <p:cNvPr id="18" name="Shape 15"/>
          <p:cNvSpPr/>
          <p:nvPr/>
        </p:nvSpPr>
        <p:spPr>
          <a:xfrm>
            <a:off x="7086600" y="4718304"/>
            <a:ext cx="457200" cy="457200"/>
          </a:xfrm>
          <a:prstGeom prst="ellipse">
            <a:avLst/>
          </a:prstGeom>
          <a:solidFill>
            <a:srgbClr val="028090"/>
          </a:solidFill>
          <a:ln/>
        </p:spPr>
        <p:txBody>
          <a:bodyPr/>
          <a:p/>
        </p:txBody>
      </p:sp>
      <p:sp>
        <p:nvSpPr>
          <p:cNvPr id="19" name="Text 16"/>
          <p:cNvSpPr/>
          <p:nvPr/>
        </p:nvSpPr>
        <p:spPr>
          <a:xfrm>
            <a:off x="7086600" y="4718304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1500" dirty="0"/>
          </a:p>
        </p:txBody>
      </p:sp>
      <p:sp>
        <p:nvSpPr>
          <p:cNvPr id="20" name="Text 17"/>
          <p:cNvSpPr/>
          <p:nvPr/>
        </p:nvSpPr>
        <p:spPr>
          <a:xfrm>
            <a:off x="7680960" y="4718304"/>
            <a:ext cx="35661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View the dashboard</a:t>
            </a:r>
            <a:endParaRPr lang="en-US" sz="1500" dirty="0"/>
          </a:p>
        </p:txBody>
      </p:sp>
      <p:sp>
        <p:nvSpPr>
          <p:cNvPr id="21" name="Shape 18"/>
          <p:cNvSpPr/>
          <p:nvPr/>
        </p:nvSpPr>
        <p:spPr>
          <a:xfrm>
            <a:off x="548640" y="5943600"/>
            <a:ext cx="11091672" cy="0"/>
          </a:xfrm>
          <a:prstGeom prst="line">
            <a:avLst/>
          </a:prstGeom>
          <a:noFill/>
          <a:ln w="12700">
            <a:solidFill>
              <a:srgbClr val="2A555C"/>
            </a:solidFill>
            <a:prstDash val="solid"/>
          </a:ln>
        </p:spPr>
        <p:txBody>
          <a:bodyPr/>
          <a:p/>
        </p:txBody>
      </p:sp>
      <p:sp>
        <p:nvSpPr>
          <p:cNvPr id="22" name="Text 19"/>
          <p:cNvSpPr/>
          <p:nvPr/>
        </p:nvSpPr>
        <p:spPr>
          <a:xfrm>
            <a:off x="548640" y="6053328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9FB9B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Thank you  —  </a:t>
            </a:r>
            <a:pPr algn="l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Muath Al-Mutairi</a:t>
            </a:r>
            <a:endParaRPr lang="en-US" sz="1500" dirty="0"/>
          </a:p>
        </p:txBody>
      </p:sp>
      <p:sp>
        <p:nvSpPr>
          <p:cNvPr id="23" name="Text 20"/>
          <p:cNvSpPr/>
          <p:nvPr/>
        </p:nvSpPr>
        <p:spPr>
          <a:xfrm>
            <a:off x="6126480" y="6053328"/>
            <a:ext cx="551383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9FB9B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Questions &amp; Discussion</a:t>
            </a:r>
            <a:endParaRPr lang="en-US" sz="13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2026-08-18T22:11:25Z</dcterms:created>
  <dcterms:modified xsi:type="dcterms:W3CDTF">2026-08-18T22:11:25Z</dcterms:modified>
</cp:coreProperties>
</file>