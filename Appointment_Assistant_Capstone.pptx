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Appointments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E2E3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A0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6C6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Scheduled</c:v>
                  </c:pt>
                  <c:pt idx="1">
                    <c:v>Rescheduled</c:v>
                  </c:pt>
                  <c:pt idx="2">
                    <c:v>Cancelled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0E2E3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0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554480"/>
            <a:ext cx="4754880" cy="4754880"/>
          </a:xfrm>
          <a:prstGeom prst="ellipse">
            <a:avLst/>
          </a:prstGeom>
          <a:solidFill>
            <a:srgbClr val="12474F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566160"/>
            <a:ext cx="3108960" cy="3108960"/>
          </a:xfrm>
          <a:prstGeom prst="ellipse">
            <a:avLst/>
          </a:prstGeom>
          <a:solidFill>
            <a:srgbClr val="12474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550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06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CAPSTONE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97180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Appointment</a:t>
            </a:r>
            <a:endParaRPr lang="en-US" sz="4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Assistant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Streamlining appointment scheduling, rescheduling &amp; cancellation with Salesforce automation and an AI-ready design.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12700">
            <a:solidFill>
              <a:srgbClr val="2A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943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F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Muath Al-Mutairi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760720" y="59436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 Management  ·  Salesforce Platform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30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183112" y="5029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261872"/>
            <a:ext cx="10058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630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appointment handling is slow, error-prone, and costly.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5852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rescheduling and cancellation consume significant agent time.</a:t>
            </a:r>
            <a:endParaRPr lang="en-US" sz="150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are error-prone and raise operational costs.</a:t>
            </a:r>
            <a:endParaRPr lang="en-US" sz="150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face delays and friction with traditional booking.</a:t>
            </a:r>
            <a:endParaRPr lang="en-US" sz="1500" dirty="0"/>
          </a:p>
          <a:p>
            <a:pPr algn="l" marL="203200" indent="-203200">
              <a:buSzPct val="100000"/>
              <a:buChar char="•"/>
            </a:pPr>
            <a:r>
              <a:rPr lang="en-US" sz="15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need an automated, intelligent appointment system.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5852160" cy="822960"/>
          </a:xfrm>
          <a:prstGeom prst="roundRect">
            <a:avLst>
              <a:gd name="adj" fmla="val 11111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5321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improve the customer experience while optimizing operational efficiency.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20840" y="1554480"/>
            <a:ext cx="491947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E2E4"/>
            </a:solidFill>
            <a:prstDash val="solid"/>
          </a:ln>
          <a:effectLst>
            <a:outerShdw sx="100000" sy="100000" kx="0" ky="0" algn="bl" rotWithShape="0" blurRad="76200" dist="25400" dir="5400000">
              <a:srgbClr val="BCCBCD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95160" y="1920240"/>
            <a:ext cx="640080" cy="640080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20756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63840" y="18105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863840" y="221284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 to manual back-and-forth scheduling.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720840" y="3127248"/>
            <a:ext cx="491947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E2E4"/>
            </a:solidFill>
            <a:prstDash val="solid"/>
          </a:ln>
          <a:effectLst>
            <a:outerShdw sx="100000" sy="100000" kx="0" ky="0" algn="bl" rotWithShape="0" blurRad="76200" dist="25400" dir="5400000">
              <a:srgbClr val="BCCBCD">
                <a:alpha val="5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95160" y="3493008"/>
            <a:ext cx="640080" cy="640080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364845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6384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7863840" y="378561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Double-bookings and mistakes from manual entry.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720840" y="4700016"/>
            <a:ext cx="491947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E2E4"/>
            </a:solidFill>
            <a:prstDash val="solid"/>
          </a:ln>
          <a:effectLst>
            <a:outerShdw sx="100000" sy="100000" kx="0" ky="0" algn="bl" rotWithShape="0" blurRad="76200" dist="25400" dir="5400000">
              <a:srgbClr val="BCCBCD">
                <a:alpha val="5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995160" y="5065776"/>
            <a:ext cx="640080" cy="640080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5221224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863840" y="49560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863840" y="535838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responses hurt customer satisfaction.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Appointment Management Assistant  ·  Salesforce Capstone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30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183112" y="5029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261872"/>
            <a:ext cx="10058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600200"/>
            <a:ext cx="5285232" cy="1353312"/>
          </a:xfrm>
          <a:prstGeom prst="roundRect">
            <a:avLst>
              <a:gd name="adj" fmla="val 6757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1911096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191109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37360" y="1819656"/>
            <a:ext cx="3867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model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737360" y="2221992"/>
            <a:ext cx="3867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scalable Salesforce data model for appointments.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1600200"/>
            <a:ext cx="5285232" cy="1353312"/>
          </a:xfrm>
          <a:prstGeom prst="roundRect">
            <a:avLst>
              <a:gd name="adj" fmla="val 6757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11112" y="1911096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6611112" y="191109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543800" y="1819656"/>
            <a:ext cx="3867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workflows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543800" y="2221992"/>
            <a:ext cx="3867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create / reschedule / cancel with Flow Builder.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136392"/>
            <a:ext cx="5285232" cy="1353312"/>
          </a:xfrm>
          <a:prstGeom prst="roundRect">
            <a:avLst>
              <a:gd name="adj" fmla="val 6757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" y="3447288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344728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737360" y="3355848"/>
            <a:ext cx="3867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interface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737360" y="3758184"/>
            <a:ext cx="3867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user-friendly Screen Flow for booking.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55080" y="3136392"/>
            <a:ext cx="5285232" cy="1353312"/>
          </a:xfrm>
          <a:prstGeom prst="roundRect">
            <a:avLst>
              <a:gd name="adj" fmla="val 6757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11112" y="3447288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1"/>
          <p:cNvSpPr/>
          <p:nvPr/>
        </p:nvSpPr>
        <p:spPr>
          <a:xfrm>
            <a:off x="6611112" y="344728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543800" y="3355848"/>
            <a:ext cx="3867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application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7543800" y="3758184"/>
            <a:ext cx="3867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Lightning App to monitor appointments.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48640" y="4672584"/>
            <a:ext cx="5285232" cy="1353312"/>
          </a:xfrm>
          <a:prstGeom prst="roundRect">
            <a:avLst>
              <a:gd name="adj" fmla="val 6757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4672" y="49834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6"/>
          <p:cNvSpPr/>
          <p:nvPr/>
        </p:nvSpPr>
        <p:spPr>
          <a:xfrm>
            <a:off x="804672" y="4983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737360" y="4892040"/>
            <a:ext cx="3867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insight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737360" y="5294376"/>
            <a:ext cx="3867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reports and dashboards for visibility.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355080" y="4672584"/>
            <a:ext cx="5285232" cy="1353312"/>
          </a:xfrm>
          <a:prstGeom prst="roundRect">
            <a:avLst>
              <a:gd name="adj" fmla="val 6757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611112" y="49834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1"/>
          <p:cNvSpPr/>
          <p:nvPr/>
        </p:nvSpPr>
        <p:spPr>
          <a:xfrm>
            <a:off x="6611112" y="4983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543800" y="4892040"/>
            <a:ext cx="3867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design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7543800" y="5294376"/>
            <a:ext cx="3867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agent-ready automation for Agentforce.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Appointment Management Assistant  ·  Salesforce Capstone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30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 &amp; Architecture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183112" y="5029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261872"/>
            <a:ext cx="10058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solution: a user — or a future AI agent — triggers reusable Flows that manage appointment records and feed live reporting.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248716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5875">
            <a:solidFill>
              <a:srgbClr val="D5E2E4"/>
            </a:solidFill>
            <a:prstDash val="solid"/>
          </a:ln>
          <a:effectLst>
            <a:outerShdw sx="100000" sy="100000" kx="0" ky="0" algn="bl" rotWithShape="0" blurRad="88900" dist="25400" dir="5400000">
              <a:srgbClr val="BCCBCD">
                <a:alpha val="5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26464" y="2578608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798064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3584448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AI Agent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86384" y="39502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via Screen Flow or Agentforce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145536" y="3159252"/>
            <a:ext cx="365760" cy="402336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14" name="Shape 10"/>
          <p:cNvSpPr/>
          <p:nvPr/>
        </p:nvSpPr>
        <p:spPr>
          <a:xfrm>
            <a:off x="3511296" y="2286000"/>
            <a:ext cx="248716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5875">
            <a:solidFill>
              <a:srgbClr val="D5E2E4"/>
            </a:solidFill>
            <a:prstDash val="solid"/>
          </a:ln>
          <a:effectLst>
            <a:outerShdw sx="100000" sy="100000" kx="0" ky="0" algn="bl" rotWithShape="0" blurRad="88900" dist="25400" dir="5400000">
              <a:srgbClr val="BCCBCD">
                <a:alpha val="5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7680" y="2578608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2798064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21024" y="3584448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Flows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657600" y="39502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Reschedule · Cancel logic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16752" y="3159252"/>
            <a:ext cx="365760" cy="402336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20" name="Shape 15"/>
          <p:cNvSpPr/>
          <p:nvPr/>
        </p:nvSpPr>
        <p:spPr>
          <a:xfrm>
            <a:off x="6382512" y="2286000"/>
            <a:ext cx="248716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5875">
            <a:solidFill>
              <a:srgbClr val="D5E2E4"/>
            </a:solidFill>
            <a:prstDash val="solid"/>
          </a:ln>
          <a:effectLst>
            <a:outerShdw sx="100000" sy="100000" kx="0" ky="0" algn="bl" rotWithShape="0" blurRad="88900" dist="25400" dir="5400000">
              <a:srgbClr val="BCCBCD">
                <a:alpha val="5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68896" y="2578608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2798064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92240" y="3584448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Records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528816" y="39502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object stores all data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8887968" y="3159252"/>
            <a:ext cx="365760" cy="402336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26" name="Shape 20"/>
          <p:cNvSpPr/>
          <p:nvPr/>
        </p:nvSpPr>
        <p:spPr>
          <a:xfrm>
            <a:off x="9253728" y="2286000"/>
            <a:ext cx="248716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5875">
            <a:solidFill>
              <a:srgbClr val="D5E2E4"/>
            </a:solidFill>
            <a:prstDash val="solid"/>
          </a:ln>
          <a:effectLst>
            <a:outerShdw sx="100000" sy="100000" kx="0" ky="0" algn="bl" rotWithShape="0" blurRad="88900" dist="25400" dir="5400000">
              <a:srgbClr val="BCCBCD">
                <a:alpha val="5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040112" y="2578608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2798064"/>
            <a:ext cx="475488" cy="4754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363456" y="3584448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Dashboard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9400032" y="39502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insight by status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548640" y="48920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77240" y="48920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by design:  </a:t>
            </a:r>
            <a:pPr algn="l" indent="0" marL="0">
              <a:buNone/>
            </a:pPr>
            <a:r>
              <a:rPr lang="en-US" sz="14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Flows are callable from the booking UI today and from an Agentforce agent once licensing is enabled — no rework required.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Appointment Management Assistant  ·  Salesforce Capstone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30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183112" y="5029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261872"/>
            <a:ext cx="10058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Object:  </a:t>
            </a:r>
            <a:pPr algn="l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pPr algn="l" indent="0" marL="0">
              <a:buNone/>
            </a:pPr>
            <a:r>
              <a:rPr lang="en-US" sz="15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Record Name = Auto Number  </a:t>
            </a:r>
            <a:pPr algn="l" indent="0" marL="0">
              <a:buNone/>
            </a:pPr>
            <a:r>
              <a:rPr lang="en-US" sz="1500" b="1" dirty="0">
                <a:solidFill>
                  <a:srgbClr val="0E2E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APT-{00000}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11091672" cy="4133088"/>
          </a:xfrm>
          <a:prstGeom prst="roundRect">
            <a:avLst>
              <a:gd name="adj" fmla="val 2212"/>
            </a:avLst>
          </a:prstGeom>
          <a:solidFill>
            <a:srgbClr val="FFFFFF"/>
          </a:solidFill>
          <a:ln w="15875">
            <a:solidFill>
              <a:srgbClr val="D5E2E4"/>
            </a:solidFill>
            <a:prstDash val="solid"/>
          </a:ln>
          <a:effectLst>
            <a:outerShdw sx="100000" sy="100000" kx="0" ky="0" algn="bl" rotWithShape="0" blurRad="88900" dist="25400" dir="5400000">
              <a:srgbClr val="BCCBCD">
                <a:alpha val="5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2455164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219456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Number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303520" y="2194560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Number — APT-{00000} (Record Name)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94360" y="2852928"/>
            <a:ext cx="11000232" cy="658368"/>
          </a:xfrm>
          <a:prstGeom prst="rect">
            <a:avLst/>
          </a:prstGeom>
          <a:solidFill>
            <a:srgbClr val="F1F6F7"/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" y="3113532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285292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(Customer)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303520" y="2852928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 →  Contact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68680" y="3771900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1234440" y="3511296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Date/Time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303520" y="3511296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94360" y="4169664"/>
            <a:ext cx="11000232" cy="658368"/>
          </a:xfrm>
          <a:prstGeom prst="rect">
            <a:avLst/>
          </a:prstGeom>
          <a:solidFill>
            <a:srgbClr val="F1F6F7"/>
          </a:solidFill>
          <a:ln/>
        </p:spPr>
      </p:sp>
      <p:sp>
        <p:nvSpPr>
          <p:cNvPr id="20" name="Shape 17"/>
          <p:cNvSpPr/>
          <p:nvPr/>
        </p:nvSpPr>
        <p:spPr>
          <a:xfrm>
            <a:off x="868680" y="443026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416966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303520" y="4169664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Picklist — Scheduled · Rescheduled · Completed · Cancelled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68680" y="5088636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1"/>
          <p:cNvSpPr/>
          <p:nvPr/>
        </p:nvSpPr>
        <p:spPr>
          <a:xfrm>
            <a:off x="1234440" y="482803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Type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303520" y="4828032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Picklist — Consultation · Follow-up · Support · Other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94360" y="5486400"/>
            <a:ext cx="11000232" cy="658368"/>
          </a:xfrm>
          <a:prstGeom prst="rect">
            <a:avLst/>
          </a:prstGeom>
          <a:solidFill>
            <a:srgbClr val="F1F6F7"/>
          </a:solidFill>
          <a:ln/>
        </p:spPr>
      </p:sp>
      <p:sp>
        <p:nvSpPr>
          <p:cNvPr id="27" name="Shape 24"/>
          <p:cNvSpPr/>
          <p:nvPr/>
        </p:nvSpPr>
        <p:spPr>
          <a:xfrm>
            <a:off x="868680" y="5747004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5"/>
          <p:cNvSpPr/>
          <p:nvPr/>
        </p:nvSpPr>
        <p:spPr>
          <a:xfrm>
            <a:off x="1234440" y="548640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303520" y="5486400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Text Area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Appointment Management Assistant  ·  Salesforce Capstone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30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— Three Autolaunched Flows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183112" y="5029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261872"/>
            <a:ext cx="10058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54480"/>
            <a:ext cx="3529584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D5E2E4"/>
            </a:solidFill>
            <a:prstDash val="solid"/>
          </a:ln>
          <a:effectLst>
            <a:outerShdw sx="100000" sy="100000" kx="0" ky="0" algn="bl" rotWithShape="0" blurRad="88900" dist="25400" dir="5400000">
              <a:srgbClr val="BCCBCD">
                <a:alpha val="5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554480"/>
            <a:ext cx="3529584" cy="128016"/>
          </a:xfrm>
          <a:prstGeom prst="roundRect">
            <a:avLst>
              <a:gd name="adj" fmla="val 42857"/>
            </a:avLst>
          </a:prstGeom>
          <a:solidFill>
            <a:srgbClr val="028090"/>
          </a:solidFill>
          <a:ln/>
        </p:spPr>
      </p:sp>
      <p:sp>
        <p:nvSpPr>
          <p:cNvPr id="9" name="Shape 6"/>
          <p:cNvSpPr/>
          <p:nvPr/>
        </p:nvSpPr>
        <p:spPr>
          <a:xfrm>
            <a:off x="1810512" y="1938528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2167128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306324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Appointment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822960" y="3566160"/>
            <a:ext cx="29809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Contact Id,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Date/Time, Service Type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record and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Appointment Id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325112" y="1554480"/>
            <a:ext cx="3529584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D5E2E4"/>
            </a:solidFill>
            <a:prstDash val="solid"/>
          </a:ln>
          <a:effectLst>
            <a:outerShdw sx="100000" sy="100000" kx="0" ky="0" algn="bl" rotWithShape="0" blurRad="88900" dist="25400" dir="5400000">
              <a:srgbClr val="BCCBCD">
                <a:alpha val="5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25112" y="1554480"/>
            <a:ext cx="3529584" cy="128016"/>
          </a:xfrm>
          <a:prstGeom prst="roundRect">
            <a:avLst>
              <a:gd name="adj" fmla="val 42857"/>
            </a:avLst>
          </a:prstGeom>
          <a:solidFill>
            <a:srgbClr val="00A896"/>
          </a:solidFill>
          <a:ln/>
        </p:spPr>
      </p:sp>
      <p:sp>
        <p:nvSpPr>
          <p:cNvPr id="15" name="Shape 11"/>
          <p:cNvSpPr/>
          <p:nvPr/>
        </p:nvSpPr>
        <p:spPr>
          <a:xfrm>
            <a:off x="5586984" y="1938528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2167128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62272" y="306324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Appointment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4599432" y="3566160"/>
            <a:ext cx="29809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Appointment Id,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Date/Time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date and sets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Rescheduled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101584" y="1554480"/>
            <a:ext cx="3529584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D5E2E4"/>
            </a:solidFill>
            <a:prstDash val="solid"/>
          </a:ln>
          <a:effectLst>
            <a:outerShdw sx="100000" sy="100000" kx="0" ky="0" algn="bl" rotWithShape="0" blurRad="88900" dist="25400" dir="5400000">
              <a:srgbClr val="BCCBCD">
                <a:alpha val="5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101584" y="1554480"/>
            <a:ext cx="3529584" cy="128016"/>
          </a:xfrm>
          <a:prstGeom prst="roundRect">
            <a:avLst>
              <a:gd name="adj" fmla="val 42857"/>
            </a:avLst>
          </a:prstGeom>
          <a:solidFill>
            <a:srgbClr val="028090"/>
          </a:solidFill>
          <a:ln/>
        </p:spPr>
      </p:sp>
      <p:sp>
        <p:nvSpPr>
          <p:cNvPr id="21" name="Shape 16"/>
          <p:cNvSpPr/>
          <p:nvPr/>
        </p:nvSpPr>
        <p:spPr>
          <a:xfrm>
            <a:off x="9363456" y="1938528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56" y="2167128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38744" y="306324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Appointment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8375904" y="3566160"/>
            <a:ext cx="29809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Appointment Id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record and sets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Cancelled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507492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1F6F7"/>
          </a:solidFill>
          <a:ln/>
        </p:spPr>
      </p:sp>
      <p:sp>
        <p:nvSpPr>
          <p:cNvPr id="26" name="Text 20"/>
          <p:cNvSpPr/>
          <p:nvPr/>
        </p:nvSpPr>
        <p:spPr>
          <a:xfrm>
            <a:off x="777240" y="50749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Flows are Active and reusable  —  </a:t>
            </a:r>
            <a:pPr algn="l" indent="0" marL="0">
              <a:buNone/>
            </a:pPr>
            <a:r>
              <a:rPr lang="en-US" sz="14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callable from the booking UI today and from a future AI agent.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Appointment Management Assistant  ·  Salesforce Capstone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30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Flow — Booking Interface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183112" y="5029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261872"/>
            <a:ext cx="10058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60020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875">
            <a:solidFill>
              <a:srgbClr val="D5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AEC0C2">
                <a:alpha val="5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600200"/>
            <a:ext cx="5212080" cy="64008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6002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 Screen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251460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Date/Time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2834640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83464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19/08/2026  10:30 AM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361188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Type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3931920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39319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393192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14400" y="4846320"/>
            <a:ext cx="4480560" cy="658368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84632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17220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working, user-facing front-end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172200" y="237744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"Book Appointment Screen" is an Active Screen Flow.</a:t>
            </a:r>
            <a:endParaRPr lang="en-US" sz="150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Date/Time and Service Type from the user.</a:t>
            </a:r>
            <a:endParaRPr lang="en-US" sz="150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appointment record on submission.</a:t>
            </a:r>
            <a:endParaRPr lang="en-US" sz="150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a real, user-facing booking interface.</a:t>
            </a:r>
            <a:endParaRPr lang="en-US" sz="1500" dirty="0"/>
          </a:p>
          <a:p>
            <a:pPr algn="l" marL="203200" indent="-203200">
              <a:buSzPct val="100000"/>
              <a:buChar char="•"/>
            </a:pPr>
            <a:r>
              <a:rPr lang="en-US" sz="15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functional alternative to the conversational AI agent.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Appointment Management Assistant  ·  Salesforce Capstone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30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Lightning App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183112" y="5029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261872"/>
            <a:ext cx="10058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691640"/>
            <a:ext cx="63093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D5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AEC0C2">
                <a:alpha val="5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691640"/>
            <a:ext cx="6309360" cy="868680"/>
          </a:xfrm>
          <a:prstGeom prst="roundRect">
            <a:avLst>
              <a:gd name="adj" fmla="val 12632"/>
            </a:avLst>
          </a:prstGeom>
          <a:solidFill>
            <a:srgbClr val="0E2E34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192938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01168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69164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Management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68680" y="2834640"/>
            <a:ext cx="1335024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68680" y="283464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313432" y="2834640"/>
            <a:ext cx="1335024" cy="502920"/>
          </a:xfrm>
          <a:prstGeom prst="roundRect">
            <a:avLst>
              <a:gd name="adj" fmla="val 50909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313432" y="283464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758184" y="2834640"/>
            <a:ext cx="1335024" cy="502920"/>
          </a:xfrm>
          <a:prstGeom prst="roundRect">
            <a:avLst>
              <a:gd name="adj" fmla="val 50909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758184" y="283464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202936" y="2834640"/>
            <a:ext cx="1335024" cy="502920"/>
          </a:xfrm>
          <a:prstGeom prst="roundRect">
            <a:avLst>
              <a:gd name="adj" fmla="val 50909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02936" y="283464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68680" y="3566160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51560" y="3566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2E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APT-00001   ·   Scheduled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68680" y="4133088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51560" y="413308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2E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APT-00002   ·   Scheduled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68680" y="4700016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051560" y="470001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2E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APT-00003   ·   Scheduled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7086600" y="18288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"Appointment Management" Lightning App.</a:t>
            </a:r>
            <a:endParaRPr lang="en-US" sz="150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Tabs: Appointments, Contacts, Reports, Dashboards.</a:t>
            </a:r>
            <a:endParaRPr lang="en-US" sz="150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Tab created for the Appointment object.</a:t>
            </a:r>
            <a:endParaRPr lang="en-US" sz="150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the System Administrator profile.</a:t>
            </a:r>
            <a:endParaRPr lang="en-US" sz="1500" dirty="0"/>
          </a:p>
          <a:p>
            <a:pPr algn="l" marL="203200" indent="-203200">
              <a:buSzPct val="100000"/>
              <a:buChar char="•"/>
            </a:pPr>
            <a:r>
              <a:rPr lang="en-US" sz="15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workspace for agents and admins.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Appointment Management Assistant  ·  Salesforce Capstone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30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Dashboard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183112" y="5029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261872"/>
            <a:ext cx="10058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600200"/>
            <a:ext cx="61264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875">
            <a:solidFill>
              <a:srgbClr val="D5E2E4"/>
            </a:solidFill>
            <a:prstDash val="solid"/>
          </a:ln>
          <a:effectLst>
            <a:outerShdw sx="100000" sy="100000" kx="0" ky="0" algn="bl" rotWithShape="0" blurRad="88900" dist="25400" dir="5400000">
              <a:srgbClr val="BCCBCD">
                <a:alpha val="5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7830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by Status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2194560"/>
          <a:ext cx="56692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995160" y="192024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Report Type:  "Appointments Report".</a:t>
            </a:r>
            <a:endParaRPr lang="en-US" sz="145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 "Appointments by Status" — grouped, with a chart.</a:t>
            </a:r>
            <a:endParaRPr lang="en-US" sz="145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 "Appointments Dashboard" visualizing the data.</a:t>
            </a:r>
            <a:endParaRPr lang="en-US" sz="145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Scheduled vs. Rescheduled vs. Cancelled at a glance.</a:t>
            </a:r>
            <a:endParaRPr lang="en-US" sz="1450" dirty="0"/>
          </a:p>
          <a:p>
            <a:pPr algn="l" marL="203200" indent="-203200">
              <a:buSzPct val="100000"/>
              <a:buChar char="•"/>
            </a:pPr>
            <a:r>
              <a:rPr lang="en-US" sz="145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data-driven operational decisions.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995160" y="52578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reflects status transitions validated across the three test records.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Appointment Management Assistant  ·  Salesforce Capstone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30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Agentforce — Honest Status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183112" y="5029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261872"/>
            <a:ext cx="10058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was part of the architecture from day one. Activation was constrained by the org edition — here is exactly what happened and how it was handled.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5362956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D5E2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194560"/>
            <a:ext cx="5362956" cy="640080"/>
          </a:xfrm>
          <a:prstGeom prst="roundRect">
            <a:avLst>
              <a:gd name="adj" fmla="val 17143"/>
            </a:avLst>
          </a:prstGeom>
          <a:solidFill>
            <a:srgbClr val="E0A02F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194560"/>
            <a:ext cx="48143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3063240"/>
            <a:ext cx="481431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Edition org lacked the required tenant configuration and licensing.</a:t>
            </a:r>
            <a:endParaRPr lang="en-US" sz="140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"Agentforce Agents" returned "No matching items found" in Setup.</a:t>
            </a:r>
            <a:endParaRPr lang="en-US" sz="1400" dirty="0"/>
          </a:p>
          <a:p>
            <a:pPr algn="l" marL="203200" indent="-203200">
              <a:buSzPct val="100000"/>
              <a:buChar char="•"/>
            </a:pPr>
            <a:r>
              <a:rPr lang="en-US" sz="14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conversational agent could not be activated in this environment.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77356" y="2194560"/>
            <a:ext cx="5362956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D5E2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77356" y="2194560"/>
            <a:ext cx="5362956" cy="640080"/>
          </a:xfrm>
          <a:prstGeom prst="roundRect">
            <a:avLst>
              <a:gd name="adj" fmla="val 17143"/>
            </a:avLst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6551676" y="2194560"/>
            <a:ext cx="48143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Mitigation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51676" y="3063240"/>
            <a:ext cx="481431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built as agent-ready actions: create, reschedule, cancel.</a:t>
            </a:r>
            <a:endParaRPr lang="en-US" sz="140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fully working Screen Flow as an equivalent booking interface.</a:t>
            </a:r>
            <a:endParaRPr lang="en-US" sz="1400" dirty="0"/>
          </a:p>
          <a:p>
            <a:pPr algn="l" marL="203200" indent="-203200">
              <a:buSzPct val="100000"/>
              <a:buChar char="•"/>
            </a:pPr>
            <a:r>
              <a:rPr lang="en-US" sz="14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path documented and ready once licensing is enabled.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Appointment Management Assistant  ·  Salesforce Capstone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30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183112" y="5029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261872"/>
            <a:ext cx="10058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54480"/>
            <a:ext cx="3529584" cy="1600200"/>
          </a:xfrm>
          <a:prstGeom prst="roundRect">
            <a:avLst>
              <a:gd name="adj" fmla="val 6857"/>
            </a:avLst>
          </a:prstGeom>
          <a:solidFill>
            <a:srgbClr val="0E2E3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691640"/>
            <a:ext cx="35295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731520" y="2578608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appointments booked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25112" y="1554480"/>
            <a:ext cx="3529584" cy="1600200"/>
          </a:xfrm>
          <a:prstGeom prst="roundRect">
            <a:avLst>
              <a:gd name="adj" fmla="val 6857"/>
            </a:avLst>
          </a:prstGeom>
          <a:solidFill>
            <a:srgbClr val="0E2E34"/>
          </a:solidFill>
          <a:ln/>
        </p:spPr>
      </p:sp>
      <p:sp>
        <p:nvSpPr>
          <p:cNvPr id="11" name="Text 8"/>
          <p:cNvSpPr/>
          <p:nvPr/>
        </p:nvSpPr>
        <p:spPr>
          <a:xfrm>
            <a:off x="4325112" y="1691640"/>
            <a:ext cx="35295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4507992" y="2578608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validated end-to-end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01584" y="1554480"/>
            <a:ext cx="3529584" cy="1600200"/>
          </a:xfrm>
          <a:prstGeom prst="roundRect">
            <a:avLst>
              <a:gd name="adj" fmla="val 6857"/>
            </a:avLst>
          </a:prstGeom>
          <a:solidFill>
            <a:srgbClr val="0E2E34"/>
          </a:solidFill>
          <a:ln/>
        </p:spPr>
      </p:sp>
      <p:sp>
        <p:nvSpPr>
          <p:cNvPr id="14" name="Text 11"/>
          <p:cNvSpPr/>
          <p:nvPr/>
        </p:nvSpPr>
        <p:spPr>
          <a:xfrm>
            <a:off x="8101584" y="1691640"/>
            <a:ext cx="35295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8284464" y="2578608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Active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created &amp; verified: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657600" y="3401568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E8F1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0" y="340156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APT-00001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257800" y="3401568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E8F1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57800" y="340156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APT-00002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858000" y="3401568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E8F1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0" y="340156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APT-00003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023360"/>
            <a:ext cx="11091672" cy="1874520"/>
          </a:xfrm>
          <a:prstGeom prst="roundRect">
            <a:avLst>
              <a:gd name="adj" fmla="val 4878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420624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model, Flows, Screen Flow, App and Reports all built and Active.</a:t>
            </a:r>
            <a:endParaRPr lang="en-US" sz="14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Reschedule / Cancel logic validated on real records.</a:t>
            </a:r>
            <a:endParaRPr lang="en-US" sz="14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transitions confirmed:  Scheduled → Rescheduled / Cancelled.</a:t>
            </a:r>
            <a:endParaRPr lang="en-US" sz="1400" dirty="0"/>
          </a:p>
          <a:p>
            <a:pPr algn="l" marL="203200" indent="-203200">
              <a:buSzPct val="100000"/>
              <a:buChar char="•"/>
            </a:pPr>
            <a:r>
              <a:rPr lang="en-US" sz="140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Dashboard reflect real appointment data accurately.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Appointment Management Assistant  ·  Salesforce Capstone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57200"/>
            <a:ext cx="10030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Lessons Learned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183112" y="5029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261872"/>
            <a:ext cx="10058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600200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17647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6479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600200"/>
            <a:ext cx="9966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Edition licensing blocked Agentforce activation.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48640" y="2532888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04672" y="2697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6974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2532888"/>
            <a:ext cx="9966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decoupled, reusable automation lets one Flow serve both UI and AI.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548640" y="3465576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04672" y="36301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63016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465576"/>
            <a:ext cx="9966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alternative kept the project functional and on schedule.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548640" y="4398264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1F6F7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04672" y="456285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562856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08760" y="4398264"/>
            <a:ext cx="9966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skills in data modeling, Flows, and Lightning App Builder.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548640" y="5330952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5E2E4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804672" y="549554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5495544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508760" y="5330952"/>
            <a:ext cx="9966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E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Reinforced the value of honest scoping and mitigation planning.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Appointment Management Assistant  ·  Salesforce Capstone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1247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5953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640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5852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functional appointment management solution on Salesforce.</a:t>
            </a:r>
            <a:endParaRPr lang="en-US" sz="150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scheduling workflows automated end-to-end.</a:t>
            </a:r>
            <a:endParaRPr lang="en-US" sz="150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 and reporting provide full operational visibility.</a:t>
            </a:r>
            <a:endParaRPr lang="en-US" sz="1500" dirty="0"/>
          </a:p>
          <a:p>
            <a:pPr algn="l" marL="203200" indent="-203200">
              <a:buSzPct val="100000"/>
              <a:buChar char="•"/>
            </a:pPr>
            <a:r>
              <a:rPr lang="en-US" sz="150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AI-agent integration is architected and ready for activation.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720840" y="1783080"/>
            <a:ext cx="4919472" cy="3840480"/>
          </a:xfrm>
          <a:prstGeom prst="roundRect">
            <a:avLst>
              <a:gd name="adj" fmla="val 3333"/>
            </a:avLst>
          </a:prstGeom>
          <a:solidFill>
            <a:srgbClr val="12474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086600" y="2743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70866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8096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 appointment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086600" y="34015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708660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680960" y="34015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it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086600" y="40599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7086600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80960" y="405993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it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086600" y="47183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7086600" y="4718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680960" y="471830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dashboard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5943600"/>
            <a:ext cx="11091672" cy="0"/>
          </a:xfrm>
          <a:prstGeom prst="line">
            <a:avLst/>
          </a:prstGeom>
          <a:noFill/>
          <a:ln w="12700">
            <a:solidFill>
              <a:srgbClr val="2A55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6053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F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Muath Al-Mutairi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126480" y="6053328"/>
            <a:ext cx="5513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2026-08-18T22:11:25Z</dcterms:created>
  <dcterms:modified xsi:type="dcterms:W3CDTF">2026-08-18T22:11:25Z</dcterms:modified>
</cp:coreProperties>
</file>